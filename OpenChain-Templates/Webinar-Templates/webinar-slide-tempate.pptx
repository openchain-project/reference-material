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5"/>
  </p:notesMasterIdLst>
  <p:sldIdLst>
    <p:sldId id="288" r:id="rId2"/>
    <p:sldId id="269" r:id="rId3"/>
    <p:sldId id="289" r:id="rId4"/>
    <p:sldId id="287" r:id="rId5"/>
    <p:sldId id="279" r:id="rId6"/>
    <p:sldId id="277" r:id="rId7"/>
    <p:sldId id="282" r:id="rId8"/>
    <p:sldId id="280" r:id="rId9"/>
    <p:sldId id="281" r:id="rId10"/>
    <p:sldId id="283" r:id="rId11"/>
    <p:sldId id="284" r:id="rId12"/>
    <p:sldId id="285" r:id="rId13"/>
    <p:sldId id="286" r:id="rId14"/>
  </p:sldIdLst>
  <p:sldSz cx="9144000" cy="5143500" type="screen16x9"/>
  <p:notesSz cx="6858000" cy="9144000"/>
  <p:embeddedFontLst>
    <p:embeddedFont>
      <p:font typeface="Josefin Sans" pitchFamily="2" charset="77"/>
      <p:regular r:id="rId16"/>
      <p:bold r:id="rId17"/>
      <p:italic r:id="rId18"/>
      <p:boldItalic r:id="rId19"/>
    </p:embeddedFont>
    <p:embeddedFont>
      <p:font typeface="Open Sans Medium" pitchFamily="2" charset="0"/>
      <p:regular r:id="rId20"/>
      <p:bold r:id="rId21"/>
      <p:italic r:id="rId22"/>
      <p:boldItalic r:id="rId23"/>
    </p:embeddedFont>
    <p:embeddedFont>
      <p:font typeface="Roboto" panose="02000000000000000000" pitchFamily="2" charset="0"/>
      <p:regular r:id="rId24"/>
      <p:bold r:id="rId25"/>
      <p:italic r:id="rId26"/>
      <p:boldItalic r:id="rId27"/>
    </p:embeddedFont>
    <p:embeddedFont>
      <p:font typeface="Roboto Slab Light" pitchFamily="2" charset="0"/>
      <p:regular r:id="rId28"/>
      <p:bold r:id="rId29"/>
    </p:embeddedFont>
  </p:embeddedFontLst>
  <p:custDataLst>
    <p:tags r:id="rId3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4FF"/>
    <a:srgbClr val="14E3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418"/>
    <p:restoredTop sz="94713"/>
  </p:normalViewPr>
  <p:slideViewPr>
    <p:cSldViewPr snapToGrid="0">
      <p:cViewPr varScale="1">
        <p:scale>
          <a:sx n="101" d="100"/>
          <a:sy n="101" d="100"/>
        </p:scale>
        <p:origin x="528" y="4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ags" Target="tags/tag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ser Sarah RDL DISDS3" userId="eac92408-f3ce-4f5f-b91e-9bd5df802b3c" providerId="ADAL" clId="{2A39D082-6960-4B68-B8CD-89254F9716CE}"/>
    <pc:docChg chg="undo custSel modSld">
      <pc:chgData name="Moser Sarah RDL DISDS3" userId="eac92408-f3ce-4f5f-b91e-9bd5df802b3c" providerId="ADAL" clId="{2A39D082-6960-4B68-B8CD-89254F9716CE}" dt="2025-07-15T12:32:18.711" v="41" actId="1076"/>
      <pc:docMkLst>
        <pc:docMk/>
      </pc:docMkLst>
      <pc:sldChg chg="addSp delSp modSp mod">
        <pc:chgData name="Moser Sarah RDL DISDS3" userId="eac92408-f3ce-4f5f-b91e-9bd5df802b3c" providerId="ADAL" clId="{2A39D082-6960-4B68-B8CD-89254F9716CE}" dt="2025-07-15T12:32:18.711" v="41" actId="1076"/>
        <pc:sldMkLst>
          <pc:docMk/>
          <pc:sldMk cId="340876048" sldId="274"/>
        </pc:sldMkLst>
        <pc:spChg chg="del">
          <ac:chgData name="Moser Sarah RDL DISDS3" userId="eac92408-f3ce-4f5f-b91e-9bd5df802b3c" providerId="ADAL" clId="{2A39D082-6960-4B68-B8CD-89254F9716CE}" dt="2025-07-15T12:19:20.778" v="0" actId="478"/>
          <ac:spMkLst>
            <pc:docMk/>
            <pc:sldMk cId="340876048" sldId="274"/>
            <ac:spMk id="4" creationId="{4A4791BB-74C1-C4C2-8267-37D5A11999CE}"/>
          </ac:spMkLst>
        </pc:spChg>
        <pc:picChg chg="del">
          <ac:chgData name="Moser Sarah RDL DISDS3" userId="eac92408-f3ce-4f5f-b91e-9bd5df802b3c" providerId="ADAL" clId="{2A39D082-6960-4B68-B8CD-89254F9716CE}" dt="2025-07-15T12:19:24.206" v="1" actId="478"/>
          <ac:picMkLst>
            <pc:docMk/>
            <pc:sldMk cId="340876048" sldId="274"/>
            <ac:picMk id="5" creationId="{FEBE2592-0544-4779-D5C8-805C7F3ED737}"/>
          </ac:picMkLst>
        </pc:picChg>
        <pc:picChg chg="mod">
          <ac:chgData name="Moser Sarah RDL DISDS3" userId="eac92408-f3ce-4f5f-b91e-9bd5df802b3c" providerId="ADAL" clId="{2A39D082-6960-4B68-B8CD-89254F9716CE}" dt="2025-07-15T12:32:13.031" v="40" actId="1076"/>
          <ac:picMkLst>
            <pc:docMk/>
            <pc:sldMk cId="340876048" sldId="274"/>
            <ac:picMk id="7" creationId="{0B5D7F45-AE6B-D70D-9317-3C352F7AE116}"/>
          </ac:picMkLst>
        </pc:picChg>
        <pc:picChg chg="add del mod">
          <ac:chgData name="Moser Sarah RDL DISDS3" userId="eac92408-f3ce-4f5f-b91e-9bd5df802b3c" providerId="ADAL" clId="{2A39D082-6960-4B68-B8CD-89254F9716CE}" dt="2025-07-15T12:20:31.352" v="5" actId="478"/>
          <ac:picMkLst>
            <pc:docMk/>
            <pc:sldMk cId="340876048" sldId="274"/>
            <ac:picMk id="10" creationId="{89235D26-0A73-2FCE-C8B9-20204DABF8DA}"/>
          </ac:picMkLst>
        </pc:picChg>
        <pc:picChg chg="add del mod">
          <ac:chgData name="Moser Sarah RDL DISDS3" userId="eac92408-f3ce-4f5f-b91e-9bd5df802b3c" providerId="ADAL" clId="{2A39D082-6960-4B68-B8CD-89254F9716CE}" dt="2025-07-15T12:31:59.384" v="35" actId="478"/>
          <ac:picMkLst>
            <pc:docMk/>
            <pc:sldMk cId="340876048" sldId="274"/>
            <ac:picMk id="12" creationId="{F2F3CDE8-34A8-17E7-7A7C-B7DB30CD5269}"/>
          </ac:picMkLst>
        </pc:picChg>
        <pc:picChg chg="add del mod">
          <ac:chgData name="Moser Sarah RDL DISDS3" userId="eac92408-f3ce-4f5f-b91e-9bd5df802b3c" providerId="ADAL" clId="{2A39D082-6960-4B68-B8CD-89254F9716CE}" dt="2025-07-15T12:32:00.247" v="36" actId="478"/>
          <ac:picMkLst>
            <pc:docMk/>
            <pc:sldMk cId="340876048" sldId="274"/>
            <ac:picMk id="14" creationId="{AC909613-B98C-DC37-7A54-ABBC6DE69EDE}"/>
          </ac:picMkLst>
        </pc:picChg>
        <pc:picChg chg="add mod">
          <ac:chgData name="Moser Sarah RDL DISDS3" userId="eac92408-f3ce-4f5f-b91e-9bd5df802b3c" providerId="ADAL" clId="{2A39D082-6960-4B68-B8CD-89254F9716CE}" dt="2025-07-15T12:32:18.711" v="41" actId="1076"/>
          <ac:picMkLst>
            <pc:docMk/>
            <pc:sldMk cId="340876048" sldId="274"/>
            <ac:picMk id="16" creationId="{626E07A6-3FE0-3C22-4965-F9439AAA6CF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AAAD238A-F162-1144-151A-E960E6E6AB14}"/>
            </a:ext>
          </a:extLst>
        </p:cNvPr>
        <p:cNvGrpSpPr/>
        <p:nvPr/>
      </p:nvGrpSpPr>
      <p:grpSpPr>
        <a:xfrm>
          <a:off x="0" y="0"/>
          <a:ext cx="0" cy="0"/>
          <a:chOff x="0" y="0"/>
          <a:chExt cx="0" cy="0"/>
        </a:xfrm>
      </p:grpSpPr>
      <p:sp>
        <p:nvSpPr>
          <p:cNvPr id="119" name="Google Shape;119;g144aaa0767c_0_69:notes">
            <a:extLst>
              <a:ext uri="{FF2B5EF4-FFF2-40B4-BE49-F238E27FC236}">
                <a16:creationId xmlns:a16="http://schemas.microsoft.com/office/drawing/2014/main" id="{6AB9DF9B-1189-CB83-1B60-12A2F16D98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44aaa0767c_0_69:notes">
            <a:extLst>
              <a:ext uri="{FF2B5EF4-FFF2-40B4-BE49-F238E27FC236}">
                <a16:creationId xmlns:a16="http://schemas.microsoft.com/office/drawing/2014/main" id="{6C6B8E92-6632-C4F4-F5DC-A481EF059C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4637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2170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51485C00-4298-1A83-4614-99CDAC710CAC}"/>
            </a:ext>
          </a:extLst>
        </p:cNvPr>
        <p:cNvGrpSpPr/>
        <p:nvPr/>
      </p:nvGrpSpPr>
      <p:grpSpPr>
        <a:xfrm>
          <a:off x="0" y="0"/>
          <a:ext cx="0" cy="0"/>
          <a:chOff x="0" y="0"/>
          <a:chExt cx="0" cy="0"/>
        </a:xfrm>
      </p:grpSpPr>
      <p:sp>
        <p:nvSpPr>
          <p:cNvPr id="119" name="Google Shape;119;g144aaa0767c_0_69:notes">
            <a:extLst>
              <a:ext uri="{FF2B5EF4-FFF2-40B4-BE49-F238E27FC236}">
                <a16:creationId xmlns:a16="http://schemas.microsoft.com/office/drawing/2014/main" id="{E588E692-B903-FD0B-1BD6-429FA59F48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44aaa0767c_0_69:notes">
            <a:extLst>
              <a:ext uri="{FF2B5EF4-FFF2-40B4-BE49-F238E27FC236}">
                <a16:creationId xmlns:a16="http://schemas.microsoft.com/office/drawing/2014/main" id="{40F77B68-CC0E-F04E-E406-7BE8EF8443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2694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DC3E098A-3177-D6BD-0DF3-53CA78B34E82}"/>
            </a:ext>
          </a:extLst>
        </p:cNvPr>
        <p:cNvGrpSpPr/>
        <p:nvPr/>
      </p:nvGrpSpPr>
      <p:grpSpPr>
        <a:xfrm>
          <a:off x="0" y="0"/>
          <a:ext cx="0" cy="0"/>
          <a:chOff x="0" y="0"/>
          <a:chExt cx="0" cy="0"/>
        </a:xfrm>
      </p:grpSpPr>
      <p:sp>
        <p:nvSpPr>
          <p:cNvPr id="119" name="Google Shape;119;g144aaa0767c_0_69:notes">
            <a:extLst>
              <a:ext uri="{FF2B5EF4-FFF2-40B4-BE49-F238E27FC236}">
                <a16:creationId xmlns:a16="http://schemas.microsoft.com/office/drawing/2014/main" id="{2EA59FD1-2AB4-87E1-5929-A91FA20556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44aaa0767c_0_69:notes">
            <a:extLst>
              <a:ext uri="{FF2B5EF4-FFF2-40B4-BE49-F238E27FC236}">
                <a16:creationId xmlns:a16="http://schemas.microsoft.com/office/drawing/2014/main" id="{CF84F032-6629-AFF2-2220-D83D4BA6DE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2840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E4B266AF-57FD-8CCF-3BA0-8A814D61A367}"/>
            </a:ext>
          </a:extLst>
        </p:cNvPr>
        <p:cNvGrpSpPr/>
        <p:nvPr/>
      </p:nvGrpSpPr>
      <p:grpSpPr>
        <a:xfrm>
          <a:off x="0" y="0"/>
          <a:ext cx="0" cy="0"/>
          <a:chOff x="0" y="0"/>
          <a:chExt cx="0" cy="0"/>
        </a:xfrm>
      </p:grpSpPr>
      <p:sp>
        <p:nvSpPr>
          <p:cNvPr id="119" name="Google Shape;119;g144aaa0767c_0_69:notes">
            <a:extLst>
              <a:ext uri="{FF2B5EF4-FFF2-40B4-BE49-F238E27FC236}">
                <a16:creationId xmlns:a16="http://schemas.microsoft.com/office/drawing/2014/main" id="{DFB430B2-EC3F-CE25-8E9B-B438FF7296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44aaa0767c_0_69:notes">
            <a:extLst>
              <a:ext uri="{FF2B5EF4-FFF2-40B4-BE49-F238E27FC236}">
                <a16:creationId xmlns:a16="http://schemas.microsoft.com/office/drawing/2014/main" id="{5E06C6C6-888E-3C72-2B20-3E88220474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27491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Dark 1">
  <p:cSld name="TITLE_3">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598100" y="1226378"/>
            <a:ext cx="5533500" cy="18945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30" name="Google Shape;30;p4"/>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1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a:endParaRPr/>
          </a:p>
        </p:txBody>
      </p:sp>
      <p:pic>
        <p:nvPicPr>
          <p:cNvPr id="31" name="Google Shape;31;p4"/>
          <p:cNvPicPr preferRelativeResize="0"/>
          <p:nvPr/>
        </p:nvPicPr>
        <p:blipFill>
          <a:blip r:embed="rId2">
            <a:alphaModFix/>
          </a:blip>
          <a:stretch>
            <a:fillRect/>
          </a:stretch>
        </p:blipFill>
        <p:spPr>
          <a:xfrm rot="5400000">
            <a:off x="8312352" y="4301684"/>
            <a:ext cx="844843" cy="838800"/>
          </a:xfrm>
          <a:prstGeom prst="rect">
            <a:avLst/>
          </a:prstGeom>
          <a:noFill/>
          <a:ln>
            <a:noFill/>
          </a:ln>
        </p:spPr>
      </p:pic>
      <p:sp>
        <p:nvSpPr>
          <p:cNvPr id="32" name="Google Shape;32;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p:nvPr/>
        </p:nvSpPr>
        <p:spPr>
          <a:xfrm>
            <a:off x="8208900" y="0"/>
            <a:ext cx="935100" cy="935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 name="Google Shape;34;p4"/>
          <p:cNvPicPr preferRelativeResize="0"/>
          <p:nvPr/>
        </p:nvPicPr>
        <p:blipFill>
          <a:blip r:embed="rId3">
            <a:alphaModFix/>
          </a:blip>
          <a:stretch>
            <a:fillRect/>
          </a:stretch>
        </p:blipFill>
        <p:spPr>
          <a:xfrm>
            <a:off x="7273800" y="3350"/>
            <a:ext cx="935100" cy="92841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9"/>
        <p:cNvGrpSpPr/>
        <p:nvPr/>
      </p:nvGrpSpPr>
      <p:grpSpPr>
        <a:xfrm>
          <a:off x="0" y="0"/>
          <a:ext cx="0" cy="0"/>
          <a:chOff x="0" y="0"/>
          <a:chExt cx="0" cy="0"/>
        </a:xfrm>
      </p:grpSpPr>
      <p:sp>
        <p:nvSpPr>
          <p:cNvPr id="90" name="Google Shape;90;p1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B174C6D7-FF31-21CE-C315-79ECE561E094}"/>
              </a:ext>
            </a:extLst>
          </p:cNvPr>
          <p:cNvPicPr>
            <a:picLocks noChangeAspect="1"/>
          </p:cNvPicPr>
          <p:nvPr userDrawn="1"/>
        </p:nvPicPr>
        <p:blipFill>
          <a:blip r:embed="rId2"/>
          <a:stretch>
            <a:fillRect/>
          </a:stretch>
        </p:blipFill>
        <p:spPr>
          <a:xfrm>
            <a:off x="5572981" y="3566823"/>
            <a:ext cx="2641600" cy="14097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reserve="1" userDrawn="1">
  <p:cSld name="1_Section header">
    <p:bg>
      <p:bgPr>
        <a:gradFill>
          <a:gsLst>
            <a:gs pos="0">
              <a:schemeClr val="accent2"/>
            </a:gs>
            <a:gs pos="100000">
              <a:schemeClr val="accent4"/>
            </a:gs>
          </a:gsLst>
          <a:lin ang="5400012" scaled="0"/>
        </a:gradFill>
        <a:effectLst/>
      </p:bgPr>
    </p:bg>
    <p:spTree>
      <p:nvGrpSpPr>
        <p:cNvPr id="1" name="Shape 50"/>
        <p:cNvGrpSpPr/>
        <p:nvPr/>
      </p:nvGrpSpPr>
      <p:grpSpPr>
        <a:xfrm>
          <a:off x="0" y="0"/>
          <a:ext cx="0" cy="0"/>
          <a:chOff x="0" y="0"/>
          <a:chExt cx="0" cy="0"/>
        </a:xfrm>
      </p:grpSpPr>
      <p:sp>
        <p:nvSpPr>
          <p:cNvPr id="51" name="Google Shape;51;p7"/>
          <p:cNvSpPr/>
          <p:nvPr/>
        </p:nvSpPr>
        <p:spPr>
          <a:xfrm rot="5400000" flipH="1">
            <a:off x="-12" y="412830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54" name="Google Shape;54;p7"/>
          <p:cNvPicPr preferRelativeResize="0"/>
          <p:nvPr/>
        </p:nvPicPr>
        <p:blipFill>
          <a:blip r:embed="rId2">
            <a:alphaModFix/>
          </a:blip>
          <a:stretch>
            <a:fillRect/>
          </a:stretch>
        </p:blipFill>
        <p:spPr>
          <a:xfrm>
            <a:off x="8128800" y="0"/>
            <a:ext cx="1015200" cy="1007953"/>
          </a:xfrm>
          <a:prstGeom prst="rect">
            <a:avLst/>
          </a:prstGeom>
          <a:noFill/>
          <a:ln>
            <a:noFill/>
          </a:ln>
        </p:spPr>
      </p:pic>
      <p:pic>
        <p:nvPicPr>
          <p:cNvPr id="2" name="Picture 1">
            <a:extLst>
              <a:ext uri="{FF2B5EF4-FFF2-40B4-BE49-F238E27FC236}">
                <a16:creationId xmlns:a16="http://schemas.microsoft.com/office/drawing/2014/main" id="{2801B9BB-356F-0CEB-6136-9AA80883BF80}"/>
              </a:ext>
            </a:extLst>
          </p:cNvPr>
          <p:cNvPicPr>
            <a:picLocks noChangeAspect="1"/>
          </p:cNvPicPr>
          <p:nvPr userDrawn="1"/>
        </p:nvPicPr>
        <p:blipFill>
          <a:blip r:embed="rId3"/>
          <a:stretch>
            <a:fillRect/>
          </a:stretch>
        </p:blipFill>
        <p:spPr>
          <a:xfrm>
            <a:off x="311700" y="195036"/>
            <a:ext cx="1833659" cy="978539"/>
          </a:xfrm>
          <a:prstGeom prst="rect">
            <a:avLst/>
          </a:prstGeom>
        </p:spPr>
      </p:pic>
      <p:sp>
        <p:nvSpPr>
          <p:cNvPr id="3" name="Google Shape;108;p16">
            <a:extLst>
              <a:ext uri="{FF2B5EF4-FFF2-40B4-BE49-F238E27FC236}">
                <a16:creationId xmlns:a16="http://schemas.microsoft.com/office/drawing/2014/main" id="{1ABDD055-C1B2-2B1E-627F-269F51FD4149}"/>
              </a:ext>
            </a:extLst>
          </p:cNvPr>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4" name="Google Shape;109;p16">
            <a:extLst>
              <a:ext uri="{FF2B5EF4-FFF2-40B4-BE49-F238E27FC236}">
                <a16:creationId xmlns:a16="http://schemas.microsoft.com/office/drawing/2014/main" id="{2CD2649E-9AE8-C63F-FF4B-51E743DE543F}"/>
              </a:ext>
            </a:extLst>
          </p:cNvPr>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dirty="0"/>
          </a:p>
        </p:txBody>
      </p:sp>
    </p:spTree>
    <p:extLst>
      <p:ext uri="{BB962C8B-B14F-4D97-AF65-F5344CB8AC3E}">
        <p14:creationId xmlns:p14="http://schemas.microsoft.com/office/powerpoint/2010/main" val="838367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60"/>
        <p:cNvGrpSpPr/>
        <p:nvPr/>
      </p:nvGrpSpPr>
      <p:grpSpPr>
        <a:xfrm>
          <a:off x="0" y="0"/>
          <a:ext cx="0" cy="0"/>
          <a:chOff x="0" y="0"/>
          <a:chExt cx="0" cy="0"/>
        </a:xfrm>
      </p:grpSpPr>
      <p:sp>
        <p:nvSpPr>
          <p:cNvPr id="61" name="Google Shape;61;p9"/>
          <p:cNvSpPr/>
          <p:nvPr/>
        </p:nvSpPr>
        <p:spPr>
          <a:xfrm>
            <a:off x="8432941" y="4431167"/>
            <a:ext cx="724200" cy="72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9"/>
          <p:cNvSpPr/>
          <p:nvPr/>
        </p:nvSpPr>
        <p:spPr>
          <a:xfrm rot="10800000">
            <a:off x="7701526" y="4431200"/>
            <a:ext cx="731400" cy="730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64" name="Google Shape;64;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9"/>
          <p:cNvSpPr/>
          <p:nvPr/>
        </p:nvSpPr>
        <p:spPr>
          <a:xfrm>
            <a:off x="8418600" y="0"/>
            <a:ext cx="725400" cy="725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9"/>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pic>
        <p:nvPicPr>
          <p:cNvPr id="67" name="Google Shape;67;p9"/>
          <p:cNvPicPr preferRelativeResize="0"/>
          <p:nvPr/>
        </p:nvPicPr>
        <p:blipFill>
          <a:blip r:embed="rId2">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315843" y="4618434"/>
            <a:ext cx="673323" cy="385382"/>
          </a:xfrm>
          <a:prstGeom prst="rect">
            <a:avLst/>
          </a:prstGeom>
        </p:spPr>
      </p:pic>
    </p:spTree>
    <p:extLst>
      <p:ext uri="{BB962C8B-B14F-4D97-AF65-F5344CB8AC3E}">
        <p14:creationId xmlns:p14="http://schemas.microsoft.com/office/powerpoint/2010/main" val="9859510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9" r:id="rId2"/>
    <p:sldLayoutId id="2147483665" r:id="rId3"/>
    <p:sldLayoutId id="2147483666"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jpe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4.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38B3095B-49B8-9C5A-EB06-33891E54FEAF}"/>
            </a:ext>
          </a:extLst>
        </p:cNvPr>
        <p:cNvGrpSpPr/>
        <p:nvPr/>
      </p:nvGrpSpPr>
      <p:grpSpPr>
        <a:xfrm>
          <a:off x="0" y="0"/>
          <a:ext cx="0" cy="0"/>
          <a:chOff x="0" y="0"/>
          <a:chExt cx="0" cy="0"/>
        </a:xfrm>
      </p:grpSpPr>
      <p:sp>
        <p:nvSpPr>
          <p:cNvPr id="122" name="Google Shape;122;p19">
            <a:extLst>
              <a:ext uri="{FF2B5EF4-FFF2-40B4-BE49-F238E27FC236}">
                <a16:creationId xmlns:a16="http://schemas.microsoft.com/office/drawing/2014/main" id="{578ABF81-6E09-5137-4016-0F601BB75C22}"/>
              </a:ext>
            </a:extLst>
          </p:cNvPr>
          <p:cNvSpPr txBox="1">
            <a:spLocks noGrp="1"/>
          </p:cNvSpPr>
          <p:nvPr>
            <p:ph type="ctrTitle"/>
          </p:nvPr>
        </p:nvSpPr>
        <p:spPr>
          <a:xfrm>
            <a:off x="191395" y="1797794"/>
            <a:ext cx="8675203" cy="1894500"/>
          </a:xfrm>
          <a:prstGeom prst="rect">
            <a:avLst/>
          </a:prstGeom>
        </p:spPr>
        <p:txBody>
          <a:bodyPr spcFirstLastPara="1" wrap="square" lIns="91425" tIns="91425" rIns="91425" bIns="91425" anchor="t" anchorCtr="0">
            <a:normAutofit/>
          </a:bodyPr>
          <a:lstStyle/>
          <a:p>
            <a:pPr lvl="0"/>
            <a:r>
              <a:rPr lang="en-US" sz="4800" dirty="0">
                <a:latin typeface="Josefin Sans" pitchFamily="2" charset="77"/>
              </a:rPr>
              <a:t>Title</a:t>
            </a:r>
            <a:endParaRPr sz="4800" dirty="0">
              <a:latin typeface="Josefin Sans" pitchFamily="2" charset="77"/>
            </a:endParaRPr>
          </a:p>
        </p:txBody>
      </p:sp>
      <p:sp>
        <p:nvSpPr>
          <p:cNvPr id="123" name="Google Shape;123;p19">
            <a:extLst>
              <a:ext uri="{FF2B5EF4-FFF2-40B4-BE49-F238E27FC236}">
                <a16:creationId xmlns:a16="http://schemas.microsoft.com/office/drawing/2014/main" id="{962080F3-8D60-4808-849C-920498EA1D1F}"/>
              </a:ext>
            </a:extLst>
          </p:cNvPr>
          <p:cNvSpPr txBox="1">
            <a:spLocks noGrp="1"/>
          </p:cNvSpPr>
          <p:nvPr>
            <p:ph type="subTitle" idx="1"/>
          </p:nvPr>
        </p:nvSpPr>
        <p:spPr>
          <a:xfrm>
            <a:off x="191395" y="2604154"/>
            <a:ext cx="8952605" cy="541442"/>
          </a:xfrm>
          <a:prstGeom prst="rect">
            <a:avLst/>
          </a:prstGeom>
        </p:spPr>
        <p:txBody>
          <a:bodyPr spcFirstLastPara="1" wrap="square" lIns="91425" tIns="91425" rIns="91425" bIns="91425" anchor="t" anchorCtr="0">
            <a:noAutofit/>
          </a:bodyPr>
          <a:lstStyle/>
          <a:p>
            <a:pPr marL="0" lvl="0" indent="0"/>
            <a:r>
              <a:rPr lang="en-US" dirty="0">
                <a:latin typeface="Josefin Sans" pitchFamily="2" charset="77"/>
              </a:rPr>
              <a:t>Sub-Title</a:t>
            </a:r>
            <a:endParaRPr dirty="0">
              <a:latin typeface="Josefin Sans" pitchFamily="2" charset="77"/>
            </a:endParaRPr>
          </a:p>
        </p:txBody>
      </p:sp>
      <p:sp>
        <p:nvSpPr>
          <p:cNvPr id="2" name="Rounded Rectangle 1">
            <a:extLst>
              <a:ext uri="{FF2B5EF4-FFF2-40B4-BE49-F238E27FC236}">
                <a16:creationId xmlns:a16="http://schemas.microsoft.com/office/drawing/2014/main" id="{AC54806F-A53C-A857-8420-3BD718B194AB}"/>
              </a:ext>
            </a:extLst>
          </p:cNvPr>
          <p:cNvSpPr>
            <a:spLocks noChangeAspect="1"/>
          </p:cNvSpPr>
          <p:nvPr/>
        </p:nvSpPr>
        <p:spPr>
          <a:xfrm>
            <a:off x="128623" y="93170"/>
            <a:ext cx="6785885" cy="145769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3600" dirty="0">
                <a:solidFill>
                  <a:schemeClr val="tx1"/>
                </a:solidFill>
                <a:latin typeface="Josefin Sans" pitchFamily="2" charset="77"/>
              </a:rPr>
              <a:t>OpenChain Webinar</a:t>
            </a:r>
          </a:p>
        </p:txBody>
      </p:sp>
      <p:pic>
        <p:nvPicPr>
          <p:cNvPr id="3" name="Picture 2">
            <a:extLst>
              <a:ext uri="{FF2B5EF4-FFF2-40B4-BE49-F238E27FC236}">
                <a16:creationId xmlns:a16="http://schemas.microsoft.com/office/drawing/2014/main" id="{05D0F1C8-5BA4-D615-D666-62D2E78B39D9}"/>
              </a:ext>
            </a:extLst>
          </p:cNvPr>
          <p:cNvPicPr>
            <a:picLocks noChangeAspect="1"/>
          </p:cNvPicPr>
          <p:nvPr/>
        </p:nvPicPr>
        <p:blipFill>
          <a:blip r:embed="rId3"/>
          <a:stretch>
            <a:fillRect/>
          </a:stretch>
        </p:blipFill>
        <p:spPr>
          <a:xfrm>
            <a:off x="342323" y="279681"/>
            <a:ext cx="2032544" cy="1084675"/>
          </a:xfrm>
          <a:prstGeom prst="rect">
            <a:avLst/>
          </a:prstGeom>
        </p:spPr>
      </p:pic>
      <p:pic>
        <p:nvPicPr>
          <p:cNvPr id="6" name="Google Shape;35;p4">
            <a:extLst>
              <a:ext uri="{FF2B5EF4-FFF2-40B4-BE49-F238E27FC236}">
                <a16:creationId xmlns:a16="http://schemas.microsoft.com/office/drawing/2014/main" id="{E23FD4AB-0255-535A-6A86-BAC4567B6BB9}"/>
              </a:ext>
            </a:extLst>
          </p:cNvPr>
          <p:cNvPicPr preferRelativeResize="0">
            <a:picLocks noChangeAspect="1"/>
          </p:cNvPicPr>
          <p:nvPr/>
        </p:nvPicPr>
        <p:blipFill>
          <a:blip r:embed="rId4">
            <a:alphaModFix/>
          </a:blip>
          <a:stretch>
            <a:fillRect/>
          </a:stretch>
        </p:blipFill>
        <p:spPr>
          <a:xfrm>
            <a:off x="191395" y="4025234"/>
            <a:ext cx="1643410" cy="541442"/>
          </a:xfrm>
          <a:prstGeom prst="rect">
            <a:avLst/>
          </a:prstGeom>
          <a:noFill/>
          <a:ln>
            <a:noFill/>
          </a:ln>
        </p:spPr>
      </p:pic>
      <p:pic>
        <p:nvPicPr>
          <p:cNvPr id="8" name="Picture 7">
            <a:extLst>
              <a:ext uri="{FF2B5EF4-FFF2-40B4-BE49-F238E27FC236}">
                <a16:creationId xmlns:a16="http://schemas.microsoft.com/office/drawing/2014/main" id="{6BC75F56-3CE3-76E4-3F09-221431E6FA7E}"/>
              </a:ext>
            </a:extLst>
          </p:cNvPr>
          <p:cNvPicPr>
            <a:picLocks noChangeAspect="1"/>
          </p:cNvPicPr>
          <p:nvPr/>
        </p:nvPicPr>
        <p:blipFill>
          <a:blip r:embed="rId5"/>
          <a:stretch>
            <a:fillRect/>
          </a:stretch>
        </p:blipFill>
        <p:spPr>
          <a:xfrm>
            <a:off x="2201256" y="3776940"/>
            <a:ext cx="1486040" cy="850546"/>
          </a:xfrm>
          <a:prstGeom prst="rect">
            <a:avLst/>
          </a:prstGeom>
        </p:spPr>
      </p:pic>
    </p:spTree>
    <p:extLst>
      <p:ext uri="{BB962C8B-B14F-4D97-AF65-F5344CB8AC3E}">
        <p14:creationId xmlns:p14="http://schemas.microsoft.com/office/powerpoint/2010/main" val="617338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Anti-Trust Policy Notice</a:t>
            </a:r>
            <a:endParaRPr dirty="0"/>
          </a:p>
        </p:txBody>
      </p:sp>
      <p:sp>
        <p:nvSpPr>
          <p:cNvPr id="158" name="Google Shape;158;p25"/>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fontScale="85000" lnSpcReduction="20000"/>
          </a:bodyPr>
          <a:lstStyle/>
          <a:p>
            <a:pPr marL="285750" indent="-285750">
              <a:spcAft>
                <a:spcPts val="1200"/>
              </a:spcAft>
            </a:pPr>
            <a:r>
              <a:rPr lang="en-US"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pPr marL="285750" indent="-285750">
              <a:spcAft>
                <a:spcPts val="1200"/>
              </a:spcAft>
            </a:pPr>
            <a:r>
              <a:rPr lang="en-US" dirty="0"/>
              <a:t> Examples of types of actions that are prohibited at Linux Foundation meetings and in connection with Linux Foundation activities are described in the Linux Foundation Antitrust Policy available at http://</a:t>
            </a:r>
            <a:r>
              <a:rPr lang="en-US" dirty="0" err="1"/>
              <a:t>www.linuxfoundation.org</a:t>
            </a:r>
            <a:r>
              <a:rPr lang="en-US" dirty="0"/>
              <a:t>/antitrust-policy. If you have questions about these matters, please contact your company counsel, or if you are a member of the Linux Foundation, feel free to contact Andrew </a:t>
            </a:r>
            <a:r>
              <a:rPr lang="en-US" dirty="0" err="1"/>
              <a:t>Updegrove</a:t>
            </a:r>
            <a:r>
              <a:rPr lang="en-US" dirty="0"/>
              <a:t> of the firm of </a:t>
            </a:r>
            <a:r>
              <a:rPr lang="en-US" dirty="0" err="1"/>
              <a:t>Gesmer</a:t>
            </a:r>
            <a:r>
              <a:rPr lang="en-US" dirty="0"/>
              <a:t> </a:t>
            </a:r>
            <a:r>
              <a:rPr lang="en-US" dirty="0" err="1"/>
              <a:t>Updegrove</a:t>
            </a:r>
            <a:r>
              <a:rPr lang="en-US" dirty="0"/>
              <a:t> LLP, which provides legal counsel to the Linux Foundation.</a:t>
            </a:r>
          </a:p>
          <a:p>
            <a:pPr marL="0" lvl="0" indent="0" algn="l" rtl="0">
              <a:spcBef>
                <a:spcPts val="0"/>
              </a:spcBef>
              <a:spcAft>
                <a:spcPts val="1200"/>
              </a:spcAft>
              <a:buNone/>
            </a:pPr>
            <a:endParaRPr lang="en-US" dirty="0"/>
          </a:p>
          <a:p>
            <a:pPr marL="0" lvl="0" indent="0" algn="l" rtl="0">
              <a:spcBef>
                <a:spcPts val="0"/>
              </a:spcBef>
              <a:spcAft>
                <a:spcPts val="1200"/>
              </a:spcAft>
              <a:buNone/>
            </a:pPr>
            <a:endParaRPr dirty="0"/>
          </a:p>
        </p:txBody>
      </p:sp>
    </p:spTree>
    <p:extLst>
      <p:ext uri="{BB962C8B-B14F-4D97-AF65-F5344CB8AC3E}">
        <p14:creationId xmlns:p14="http://schemas.microsoft.com/office/powerpoint/2010/main" val="2840883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FED43-7B32-5C0E-8362-9B0020A7ACA7}"/>
              </a:ext>
            </a:extLst>
          </p:cNvPr>
          <p:cNvSpPr>
            <a:spLocks noGrp="1"/>
          </p:cNvSpPr>
          <p:nvPr>
            <p:ph type="title"/>
          </p:nvPr>
        </p:nvSpPr>
        <p:spPr/>
        <p:txBody>
          <a:bodyPr>
            <a:normAutofit fontScale="90000"/>
          </a:bodyPr>
          <a:lstStyle/>
          <a:p>
            <a:r>
              <a:rPr lang="en-JP" dirty="0"/>
              <a:t>Example Slides After This</a:t>
            </a:r>
          </a:p>
        </p:txBody>
      </p:sp>
      <p:sp>
        <p:nvSpPr>
          <p:cNvPr id="3" name="Text Placeholder 2">
            <a:extLst>
              <a:ext uri="{FF2B5EF4-FFF2-40B4-BE49-F238E27FC236}">
                <a16:creationId xmlns:a16="http://schemas.microsoft.com/office/drawing/2014/main" id="{89CB710F-2BF2-5171-37F0-6E2F084F0872}"/>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2074646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00830F0D-BA59-ED91-4860-FC0335F728F8}"/>
            </a:ext>
          </a:extLst>
        </p:cNvPr>
        <p:cNvGrpSpPr/>
        <p:nvPr/>
      </p:nvGrpSpPr>
      <p:grpSpPr>
        <a:xfrm>
          <a:off x="0" y="0"/>
          <a:ext cx="0" cy="0"/>
          <a:chOff x="0" y="0"/>
          <a:chExt cx="0" cy="0"/>
        </a:xfrm>
      </p:grpSpPr>
      <p:sp>
        <p:nvSpPr>
          <p:cNvPr id="122" name="Google Shape;122;p19">
            <a:extLst>
              <a:ext uri="{FF2B5EF4-FFF2-40B4-BE49-F238E27FC236}">
                <a16:creationId xmlns:a16="http://schemas.microsoft.com/office/drawing/2014/main" id="{515B3E9E-F1AA-0056-2617-E95892D66F8A}"/>
              </a:ext>
            </a:extLst>
          </p:cNvPr>
          <p:cNvSpPr txBox="1">
            <a:spLocks noGrp="1"/>
          </p:cNvSpPr>
          <p:nvPr>
            <p:ph type="ctrTitle"/>
          </p:nvPr>
        </p:nvSpPr>
        <p:spPr>
          <a:xfrm>
            <a:off x="191395" y="1797794"/>
            <a:ext cx="8675203" cy="1894500"/>
          </a:xfrm>
          <a:prstGeom prst="rect">
            <a:avLst/>
          </a:prstGeom>
        </p:spPr>
        <p:txBody>
          <a:bodyPr spcFirstLastPara="1" wrap="square" lIns="91425" tIns="91425" rIns="91425" bIns="91425" anchor="t" anchorCtr="0">
            <a:normAutofit/>
          </a:bodyPr>
          <a:lstStyle/>
          <a:p>
            <a:pPr lvl="0"/>
            <a:r>
              <a:rPr lang="en-US" sz="4800" dirty="0">
                <a:latin typeface="Josefin Sans" pitchFamily="2" charset="77"/>
              </a:rPr>
              <a:t>Unlocking Potential</a:t>
            </a:r>
            <a:endParaRPr sz="4800" dirty="0">
              <a:latin typeface="Josefin Sans" pitchFamily="2" charset="77"/>
            </a:endParaRPr>
          </a:p>
        </p:txBody>
      </p:sp>
      <p:sp>
        <p:nvSpPr>
          <p:cNvPr id="123" name="Google Shape;123;p19">
            <a:extLst>
              <a:ext uri="{FF2B5EF4-FFF2-40B4-BE49-F238E27FC236}">
                <a16:creationId xmlns:a16="http://schemas.microsoft.com/office/drawing/2014/main" id="{71CB5AC3-DEF8-F085-CFC8-15770D604066}"/>
              </a:ext>
            </a:extLst>
          </p:cNvPr>
          <p:cNvSpPr txBox="1">
            <a:spLocks noGrp="1"/>
          </p:cNvSpPr>
          <p:nvPr>
            <p:ph type="subTitle" idx="1"/>
          </p:nvPr>
        </p:nvSpPr>
        <p:spPr>
          <a:xfrm>
            <a:off x="191395" y="2604154"/>
            <a:ext cx="8952605" cy="541442"/>
          </a:xfrm>
          <a:prstGeom prst="rect">
            <a:avLst/>
          </a:prstGeom>
        </p:spPr>
        <p:txBody>
          <a:bodyPr spcFirstLastPara="1" wrap="square" lIns="91425" tIns="91425" rIns="91425" bIns="91425" anchor="t" anchorCtr="0">
            <a:noAutofit/>
          </a:bodyPr>
          <a:lstStyle/>
          <a:p>
            <a:pPr marL="0" lvl="0" indent="0"/>
            <a:r>
              <a:rPr lang="en-US" dirty="0">
                <a:latin typeface="Josefin Sans" pitchFamily="2" charset="77"/>
              </a:rPr>
              <a:t>Case Study on ZF’s ISO 5230 third-party certification with TIMETOACT</a:t>
            </a:r>
            <a:endParaRPr dirty="0">
              <a:latin typeface="Josefin Sans" pitchFamily="2" charset="77"/>
            </a:endParaRPr>
          </a:p>
        </p:txBody>
      </p:sp>
      <p:sp>
        <p:nvSpPr>
          <p:cNvPr id="2" name="Rounded Rectangle 1">
            <a:extLst>
              <a:ext uri="{FF2B5EF4-FFF2-40B4-BE49-F238E27FC236}">
                <a16:creationId xmlns:a16="http://schemas.microsoft.com/office/drawing/2014/main" id="{029BCDD3-91A2-8679-C070-9818C7642C96}"/>
              </a:ext>
            </a:extLst>
          </p:cNvPr>
          <p:cNvSpPr>
            <a:spLocks noChangeAspect="1"/>
          </p:cNvSpPr>
          <p:nvPr/>
        </p:nvSpPr>
        <p:spPr>
          <a:xfrm>
            <a:off x="128623" y="93170"/>
            <a:ext cx="6785885" cy="145769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3600" dirty="0">
                <a:solidFill>
                  <a:schemeClr val="tx1"/>
                </a:solidFill>
                <a:latin typeface="Josefin Sans" pitchFamily="2" charset="77"/>
              </a:rPr>
              <a:t>OpenChain Webinar</a:t>
            </a:r>
          </a:p>
        </p:txBody>
      </p:sp>
      <p:pic>
        <p:nvPicPr>
          <p:cNvPr id="3" name="Picture 2">
            <a:extLst>
              <a:ext uri="{FF2B5EF4-FFF2-40B4-BE49-F238E27FC236}">
                <a16:creationId xmlns:a16="http://schemas.microsoft.com/office/drawing/2014/main" id="{8D17D756-5EAC-4EF1-6FBE-204F89853B1B}"/>
              </a:ext>
            </a:extLst>
          </p:cNvPr>
          <p:cNvPicPr>
            <a:picLocks noChangeAspect="1"/>
          </p:cNvPicPr>
          <p:nvPr/>
        </p:nvPicPr>
        <p:blipFill>
          <a:blip r:embed="rId3"/>
          <a:stretch>
            <a:fillRect/>
          </a:stretch>
        </p:blipFill>
        <p:spPr>
          <a:xfrm>
            <a:off x="342323" y="279681"/>
            <a:ext cx="2032544" cy="1084675"/>
          </a:xfrm>
          <a:prstGeom prst="rect">
            <a:avLst/>
          </a:prstGeom>
        </p:spPr>
      </p:pic>
      <p:pic>
        <p:nvPicPr>
          <p:cNvPr id="7" name="Graphic 6">
            <a:extLst>
              <a:ext uri="{FF2B5EF4-FFF2-40B4-BE49-F238E27FC236}">
                <a16:creationId xmlns:a16="http://schemas.microsoft.com/office/drawing/2014/main" id="{2128593A-214B-0C0C-ED55-171B66CDF6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67711" y="3939221"/>
            <a:ext cx="2271546" cy="627455"/>
          </a:xfrm>
          <a:prstGeom prst="rect">
            <a:avLst/>
          </a:prstGeom>
        </p:spPr>
      </p:pic>
      <p:pic>
        <p:nvPicPr>
          <p:cNvPr id="6" name="Google Shape;35;p4">
            <a:extLst>
              <a:ext uri="{FF2B5EF4-FFF2-40B4-BE49-F238E27FC236}">
                <a16:creationId xmlns:a16="http://schemas.microsoft.com/office/drawing/2014/main" id="{AF79877E-93F9-9436-8CAE-831BD8944F27}"/>
              </a:ext>
            </a:extLst>
          </p:cNvPr>
          <p:cNvPicPr preferRelativeResize="0">
            <a:picLocks noChangeAspect="1"/>
          </p:cNvPicPr>
          <p:nvPr/>
        </p:nvPicPr>
        <p:blipFill>
          <a:blip r:embed="rId6">
            <a:alphaModFix/>
          </a:blip>
          <a:stretch>
            <a:fillRect/>
          </a:stretch>
        </p:blipFill>
        <p:spPr>
          <a:xfrm>
            <a:off x="191395" y="4025234"/>
            <a:ext cx="1643410" cy="541442"/>
          </a:xfrm>
          <a:prstGeom prst="rect">
            <a:avLst/>
          </a:prstGeom>
          <a:noFill/>
          <a:ln>
            <a:noFill/>
          </a:ln>
        </p:spPr>
      </p:pic>
      <p:pic>
        <p:nvPicPr>
          <p:cNvPr id="8" name="Picture 7">
            <a:extLst>
              <a:ext uri="{FF2B5EF4-FFF2-40B4-BE49-F238E27FC236}">
                <a16:creationId xmlns:a16="http://schemas.microsoft.com/office/drawing/2014/main" id="{AD9116AD-16D6-EE9C-8845-575E35EC5C70}"/>
              </a:ext>
            </a:extLst>
          </p:cNvPr>
          <p:cNvPicPr>
            <a:picLocks noChangeAspect="1"/>
          </p:cNvPicPr>
          <p:nvPr/>
        </p:nvPicPr>
        <p:blipFill>
          <a:blip r:embed="rId7"/>
          <a:stretch>
            <a:fillRect/>
          </a:stretch>
        </p:blipFill>
        <p:spPr>
          <a:xfrm>
            <a:off x="2201256" y="3776940"/>
            <a:ext cx="1486040" cy="850546"/>
          </a:xfrm>
          <a:prstGeom prst="rect">
            <a:avLst/>
          </a:prstGeom>
        </p:spPr>
      </p:pic>
      <p:pic>
        <p:nvPicPr>
          <p:cNvPr id="16" name="Graphic 15">
            <a:extLst>
              <a:ext uri="{FF2B5EF4-FFF2-40B4-BE49-F238E27FC236}">
                <a16:creationId xmlns:a16="http://schemas.microsoft.com/office/drawing/2014/main" id="{CDCFF11F-0F67-142D-AE2D-BEE5F4A5C08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60432" y="3813717"/>
            <a:ext cx="2306166" cy="721714"/>
          </a:xfrm>
          <a:prstGeom prst="rect">
            <a:avLst/>
          </a:prstGeom>
        </p:spPr>
      </p:pic>
    </p:spTree>
    <p:extLst>
      <p:ext uri="{BB962C8B-B14F-4D97-AF65-F5344CB8AC3E}">
        <p14:creationId xmlns:p14="http://schemas.microsoft.com/office/powerpoint/2010/main" val="111973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2D94B748-888D-5491-E259-D3C0CC30633F}"/>
            </a:ext>
          </a:extLst>
        </p:cNvPr>
        <p:cNvGrpSpPr/>
        <p:nvPr/>
      </p:nvGrpSpPr>
      <p:grpSpPr>
        <a:xfrm>
          <a:off x="0" y="0"/>
          <a:ext cx="0" cy="0"/>
          <a:chOff x="0" y="0"/>
          <a:chExt cx="0" cy="0"/>
        </a:xfrm>
      </p:grpSpPr>
      <p:sp>
        <p:nvSpPr>
          <p:cNvPr id="122" name="Google Shape;122;p19">
            <a:extLst>
              <a:ext uri="{FF2B5EF4-FFF2-40B4-BE49-F238E27FC236}">
                <a16:creationId xmlns:a16="http://schemas.microsoft.com/office/drawing/2014/main" id="{1150A8CA-97C0-62BC-19FC-202DCD1B0B6E}"/>
              </a:ext>
            </a:extLst>
          </p:cNvPr>
          <p:cNvSpPr txBox="1">
            <a:spLocks noGrp="1"/>
          </p:cNvSpPr>
          <p:nvPr>
            <p:ph type="ctrTitle"/>
          </p:nvPr>
        </p:nvSpPr>
        <p:spPr>
          <a:xfrm>
            <a:off x="191395" y="1797794"/>
            <a:ext cx="8675203" cy="1894500"/>
          </a:xfrm>
          <a:prstGeom prst="rect">
            <a:avLst/>
          </a:prstGeom>
        </p:spPr>
        <p:txBody>
          <a:bodyPr spcFirstLastPara="1" wrap="square" lIns="91425" tIns="91425" rIns="91425" bIns="91425" anchor="t" anchorCtr="0">
            <a:normAutofit fontScale="90000"/>
          </a:bodyPr>
          <a:lstStyle/>
          <a:p>
            <a:pPr lvl="0"/>
            <a:r>
              <a:rPr lang="en-US" sz="4000" dirty="0">
                <a:latin typeface="Josefin Sans" pitchFamily="2" charset="77"/>
              </a:rPr>
              <a:t>OIN - A Conversation About the Journey So Far and Preview of OIN 2.0</a:t>
            </a:r>
            <a:br>
              <a:rPr lang="en-US" sz="4800" dirty="0">
                <a:latin typeface="Josefin Sans" pitchFamily="2" charset="77"/>
              </a:rPr>
            </a:br>
            <a:r>
              <a:rPr lang="en-US" sz="2000" dirty="0">
                <a:latin typeface="Josefin Sans" pitchFamily="2" charset="77"/>
              </a:rPr>
              <a:t>Featuring Keith Bergelt, CEO of OIN and Shane Coughlan, GM of OpenChain</a:t>
            </a:r>
            <a:endParaRPr sz="2000" dirty="0">
              <a:latin typeface="Josefin Sans" pitchFamily="2" charset="77"/>
            </a:endParaRPr>
          </a:p>
        </p:txBody>
      </p:sp>
      <p:sp>
        <p:nvSpPr>
          <p:cNvPr id="2" name="Rounded Rectangle 1">
            <a:extLst>
              <a:ext uri="{FF2B5EF4-FFF2-40B4-BE49-F238E27FC236}">
                <a16:creationId xmlns:a16="http://schemas.microsoft.com/office/drawing/2014/main" id="{C5022F1B-98EC-3DA9-ED3D-369914668BA9}"/>
              </a:ext>
            </a:extLst>
          </p:cNvPr>
          <p:cNvSpPr>
            <a:spLocks noChangeAspect="1"/>
          </p:cNvSpPr>
          <p:nvPr/>
        </p:nvSpPr>
        <p:spPr>
          <a:xfrm>
            <a:off x="128623" y="93170"/>
            <a:ext cx="6785885" cy="145769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3600" dirty="0">
                <a:solidFill>
                  <a:schemeClr val="tx1"/>
                </a:solidFill>
                <a:latin typeface="Josefin Sans" pitchFamily="2" charset="77"/>
              </a:rPr>
              <a:t>OpenChain Webinar</a:t>
            </a:r>
          </a:p>
        </p:txBody>
      </p:sp>
      <p:pic>
        <p:nvPicPr>
          <p:cNvPr id="3" name="Picture 2">
            <a:extLst>
              <a:ext uri="{FF2B5EF4-FFF2-40B4-BE49-F238E27FC236}">
                <a16:creationId xmlns:a16="http://schemas.microsoft.com/office/drawing/2014/main" id="{D52785B7-3B21-F931-5993-20D80DB4693C}"/>
              </a:ext>
            </a:extLst>
          </p:cNvPr>
          <p:cNvPicPr>
            <a:picLocks noChangeAspect="1"/>
          </p:cNvPicPr>
          <p:nvPr/>
        </p:nvPicPr>
        <p:blipFill>
          <a:blip r:embed="rId3"/>
          <a:stretch>
            <a:fillRect/>
          </a:stretch>
        </p:blipFill>
        <p:spPr>
          <a:xfrm>
            <a:off x="342323" y="279681"/>
            <a:ext cx="2032544" cy="1084675"/>
          </a:xfrm>
          <a:prstGeom prst="rect">
            <a:avLst/>
          </a:prstGeom>
        </p:spPr>
      </p:pic>
      <p:pic>
        <p:nvPicPr>
          <p:cNvPr id="6" name="Google Shape;35;p4">
            <a:extLst>
              <a:ext uri="{FF2B5EF4-FFF2-40B4-BE49-F238E27FC236}">
                <a16:creationId xmlns:a16="http://schemas.microsoft.com/office/drawing/2014/main" id="{8884706D-723D-1FFB-ADE2-BEA119F81734}"/>
              </a:ext>
            </a:extLst>
          </p:cNvPr>
          <p:cNvPicPr preferRelativeResize="0">
            <a:picLocks noChangeAspect="1"/>
          </p:cNvPicPr>
          <p:nvPr/>
        </p:nvPicPr>
        <p:blipFill>
          <a:blip r:embed="rId4">
            <a:alphaModFix/>
          </a:blip>
          <a:stretch>
            <a:fillRect/>
          </a:stretch>
        </p:blipFill>
        <p:spPr>
          <a:xfrm>
            <a:off x="191395" y="4025234"/>
            <a:ext cx="1643410" cy="541442"/>
          </a:xfrm>
          <a:prstGeom prst="rect">
            <a:avLst/>
          </a:prstGeom>
          <a:noFill/>
          <a:ln>
            <a:noFill/>
          </a:ln>
        </p:spPr>
      </p:pic>
      <p:pic>
        <p:nvPicPr>
          <p:cNvPr id="8" name="Picture 7">
            <a:extLst>
              <a:ext uri="{FF2B5EF4-FFF2-40B4-BE49-F238E27FC236}">
                <a16:creationId xmlns:a16="http://schemas.microsoft.com/office/drawing/2014/main" id="{807B161A-3D03-7269-5FF6-D3D7480561B8}"/>
              </a:ext>
            </a:extLst>
          </p:cNvPr>
          <p:cNvPicPr>
            <a:picLocks noChangeAspect="1"/>
          </p:cNvPicPr>
          <p:nvPr/>
        </p:nvPicPr>
        <p:blipFill>
          <a:blip r:embed="rId5"/>
          <a:stretch>
            <a:fillRect/>
          </a:stretch>
        </p:blipFill>
        <p:spPr>
          <a:xfrm>
            <a:off x="2201256" y="3776940"/>
            <a:ext cx="1486040" cy="850546"/>
          </a:xfrm>
          <a:prstGeom prst="rect">
            <a:avLst/>
          </a:prstGeom>
        </p:spPr>
      </p:pic>
      <p:pic>
        <p:nvPicPr>
          <p:cNvPr id="5" name="Picture 4" descr="A person wearing glasses and a suit&#10;&#10;AI-generated content may be incorrect.">
            <a:extLst>
              <a:ext uri="{FF2B5EF4-FFF2-40B4-BE49-F238E27FC236}">
                <a16:creationId xmlns:a16="http://schemas.microsoft.com/office/drawing/2014/main" id="{E73AF7BD-C899-F830-C2EA-4C07DC2A944F}"/>
              </a:ext>
            </a:extLst>
          </p:cNvPr>
          <p:cNvPicPr>
            <a:picLocks noChangeAspect="1"/>
          </p:cNvPicPr>
          <p:nvPr/>
        </p:nvPicPr>
        <p:blipFill>
          <a:blip r:embed="rId6"/>
          <a:stretch>
            <a:fillRect/>
          </a:stretch>
        </p:blipFill>
        <p:spPr>
          <a:xfrm>
            <a:off x="4961421" y="3534442"/>
            <a:ext cx="1366874" cy="1366874"/>
          </a:xfrm>
          <a:prstGeom prst="rect">
            <a:avLst/>
          </a:prstGeom>
        </p:spPr>
      </p:pic>
      <p:pic>
        <p:nvPicPr>
          <p:cNvPr id="9" name="Picture 8">
            <a:extLst>
              <a:ext uri="{FF2B5EF4-FFF2-40B4-BE49-F238E27FC236}">
                <a16:creationId xmlns:a16="http://schemas.microsoft.com/office/drawing/2014/main" id="{24E21AF1-C992-DBCB-2858-C26007E98053}"/>
              </a:ext>
            </a:extLst>
          </p:cNvPr>
          <p:cNvPicPr>
            <a:picLocks noChangeAspect="1"/>
          </p:cNvPicPr>
          <p:nvPr/>
        </p:nvPicPr>
        <p:blipFill>
          <a:blip r:embed="rId7"/>
          <a:srcRect/>
          <a:stretch/>
        </p:blipFill>
        <p:spPr>
          <a:xfrm>
            <a:off x="6914009" y="3534442"/>
            <a:ext cx="1366874" cy="1366874"/>
          </a:xfrm>
          <a:prstGeom prst="rect">
            <a:avLst/>
          </a:prstGeom>
        </p:spPr>
      </p:pic>
    </p:spTree>
    <p:extLst>
      <p:ext uri="{BB962C8B-B14F-4D97-AF65-F5344CB8AC3E}">
        <p14:creationId xmlns:p14="http://schemas.microsoft.com/office/powerpoint/2010/main" val="3408542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7B4D0419-B752-7585-0F49-2174ECC67CCF}"/>
            </a:ext>
          </a:extLst>
        </p:cNvPr>
        <p:cNvGrpSpPr/>
        <p:nvPr/>
      </p:nvGrpSpPr>
      <p:grpSpPr>
        <a:xfrm>
          <a:off x="0" y="0"/>
          <a:ext cx="0" cy="0"/>
          <a:chOff x="0" y="0"/>
          <a:chExt cx="0" cy="0"/>
        </a:xfrm>
      </p:grpSpPr>
      <p:sp>
        <p:nvSpPr>
          <p:cNvPr id="122" name="Google Shape;122;p19">
            <a:extLst>
              <a:ext uri="{FF2B5EF4-FFF2-40B4-BE49-F238E27FC236}">
                <a16:creationId xmlns:a16="http://schemas.microsoft.com/office/drawing/2014/main" id="{419BDF54-69BC-3727-6356-3533EDBE8C39}"/>
              </a:ext>
            </a:extLst>
          </p:cNvPr>
          <p:cNvSpPr txBox="1">
            <a:spLocks noGrp="1"/>
          </p:cNvSpPr>
          <p:nvPr>
            <p:ph type="ctrTitle"/>
          </p:nvPr>
        </p:nvSpPr>
        <p:spPr>
          <a:xfrm>
            <a:off x="191395" y="1797794"/>
            <a:ext cx="8675203" cy="1894500"/>
          </a:xfrm>
          <a:prstGeom prst="rect">
            <a:avLst/>
          </a:prstGeom>
        </p:spPr>
        <p:txBody>
          <a:bodyPr spcFirstLastPara="1" wrap="square" lIns="91425" tIns="91425" rIns="91425" bIns="91425" anchor="t" anchorCtr="0">
            <a:normAutofit/>
          </a:bodyPr>
          <a:lstStyle/>
          <a:p>
            <a:pPr lvl="0"/>
            <a:r>
              <a:rPr lang="en-US" sz="4800" dirty="0">
                <a:latin typeface="Josefin Sans" pitchFamily="2" charset="77"/>
              </a:rPr>
              <a:t>Compliant containers with the OSADL Base Image</a:t>
            </a:r>
            <a:endParaRPr sz="4800" dirty="0">
              <a:latin typeface="Josefin Sans" pitchFamily="2" charset="77"/>
            </a:endParaRPr>
          </a:p>
        </p:txBody>
      </p:sp>
      <p:sp>
        <p:nvSpPr>
          <p:cNvPr id="2" name="Rounded Rectangle 1">
            <a:extLst>
              <a:ext uri="{FF2B5EF4-FFF2-40B4-BE49-F238E27FC236}">
                <a16:creationId xmlns:a16="http://schemas.microsoft.com/office/drawing/2014/main" id="{E6D4F6D2-56F9-52FA-5056-A64590163E00}"/>
              </a:ext>
            </a:extLst>
          </p:cNvPr>
          <p:cNvSpPr>
            <a:spLocks noChangeAspect="1"/>
          </p:cNvSpPr>
          <p:nvPr/>
        </p:nvSpPr>
        <p:spPr>
          <a:xfrm>
            <a:off x="128623" y="93170"/>
            <a:ext cx="6785885" cy="145769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3600" dirty="0">
                <a:solidFill>
                  <a:schemeClr val="tx1"/>
                </a:solidFill>
                <a:latin typeface="Josefin Sans" pitchFamily="2" charset="77"/>
              </a:rPr>
              <a:t>OpenChain Webinar</a:t>
            </a:r>
          </a:p>
        </p:txBody>
      </p:sp>
      <p:pic>
        <p:nvPicPr>
          <p:cNvPr id="3" name="Picture 2">
            <a:extLst>
              <a:ext uri="{FF2B5EF4-FFF2-40B4-BE49-F238E27FC236}">
                <a16:creationId xmlns:a16="http://schemas.microsoft.com/office/drawing/2014/main" id="{6A6C3FD6-426E-759D-062E-C58684938C8D}"/>
              </a:ext>
            </a:extLst>
          </p:cNvPr>
          <p:cNvPicPr>
            <a:picLocks noChangeAspect="1"/>
          </p:cNvPicPr>
          <p:nvPr/>
        </p:nvPicPr>
        <p:blipFill>
          <a:blip r:embed="rId3"/>
          <a:stretch>
            <a:fillRect/>
          </a:stretch>
        </p:blipFill>
        <p:spPr>
          <a:xfrm>
            <a:off x="342323" y="279681"/>
            <a:ext cx="2032544" cy="1084675"/>
          </a:xfrm>
          <a:prstGeom prst="rect">
            <a:avLst/>
          </a:prstGeom>
        </p:spPr>
      </p:pic>
      <p:pic>
        <p:nvPicPr>
          <p:cNvPr id="6" name="Google Shape;35;p4">
            <a:extLst>
              <a:ext uri="{FF2B5EF4-FFF2-40B4-BE49-F238E27FC236}">
                <a16:creationId xmlns:a16="http://schemas.microsoft.com/office/drawing/2014/main" id="{369CD4C2-13E1-313C-15D6-2CB78B5BA1AC}"/>
              </a:ext>
            </a:extLst>
          </p:cNvPr>
          <p:cNvPicPr preferRelativeResize="0">
            <a:picLocks noChangeAspect="1"/>
          </p:cNvPicPr>
          <p:nvPr/>
        </p:nvPicPr>
        <p:blipFill>
          <a:blip r:embed="rId4">
            <a:alphaModFix/>
          </a:blip>
          <a:stretch>
            <a:fillRect/>
          </a:stretch>
        </p:blipFill>
        <p:spPr>
          <a:xfrm>
            <a:off x="191395" y="4025234"/>
            <a:ext cx="1643410" cy="541442"/>
          </a:xfrm>
          <a:prstGeom prst="rect">
            <a:avLst/>
          </a:prstGeom>
          <a:noFill/>
          <a:ln>
            <a:noFill/>
          </a:ln>
        </p:spPr>
      </p:pic>
      <p:pic>
        <p:nvPicPr>
          <p:cNvPr id="8" name="Picture 7">
            <a:extLst>
              <a:ext uri="{FF2B5EF4-FFF2-40B4-BE49-F238E27FC236}">
                <a16:creationId xmlns:a16="http://schemas.microsoft.com/office/drawing/2014/main" id="{2019D1A7-4FA9-B207-DD69-3DAC8C655F23}"/>
              </a:ext>
            </a:extLst>
          </p:cNvPr>
          <p:cNvPicPr>
            <a:picLocks noChangeAspect="1"/>
          </p:cNvPicPr>
          <p:nvPr/>
        </p:nvPicPr>
        <p:blipFill>
          <a:blip r:embed="rId5"/>
          <a:stretch>
            <a:fillRect/>
          </a:stretch>
        </p:blipFill>
        <p:spPr>
          <a:xfrm>
            <a:off x="2201256" y="3776940"/>
            <a:ext cx="1486040" cy="850546"/>
          </a:xfrm>
          <a:prstGeom prst="rect">
            <a:avLst/>
          </a:prstGeom>
        </p:spPr>
      </p:pic>
      <p:pic>
        <p:nvPicPr>
          <p:cNvPr id="4" name="Picture 3">
            <a:extLst>
              <a:ext uri="{FF2B5EF4-FFF2-40B4-BE49-F238E27FC236}">
                <a16:creationId xmlns:a16="http://schemas.microsoft.com/office/drawing/2014/main" id="{F2E0F78A-39E9-8C68-853F-24C55B16B1EE}"/>
              </a:ext>
            </a:extLst>
          </p:cNvPr>
          <p:cNvPicPr>
            <a:picLocks noChangeAspect="1"/>
          </p:cNvPicPr>
          <p:nvPr/>
        </p:nvPicPr>
        <p:blipFill>
          <a:blip r:embed="rId6"/>
          <a:srcRect/>
          <a:stretch/>
        </p:blipFill>
        <p:spPr>
          <a:xfrm>
            <a:off x="6336653" y="3192720"/>
            <a:ext cx="1212180" cy="1212180"/>
          </a:xfrm>
          <a:prstGeom prst="rect">
            <a:avLst/>
          </a:prstGeom>
        </p:spPr>
      </p:pic>
      <p:sp>
        <p:nvSpPr>
          <p:cNvPr id="5" name="Google Shape;587;p58">
            <a:extLst>
              <a:ext uri="{FF2B5EF4-FFF2-40B4-BE49-F238E27FC236}">
                <a16:creationId xmlns:a16="http://schemas.microsoft.com/office/drawing/2014/main" id="{B7064F52-B72F-4A87-240D-950104E13A9F}"/>
              </a:ext>
            </a:extLst>
          </p:cNvPr>
          <p:cNvSpPr txBox="1">
            <a:spLocks/>
          </p:cNvSpPr>
          <p:nvPr/>
        </p:nvSpPr>
        <p:spPr>
          <a:xfrm>
            <a:off x="5369859" y="4437855"/>
            <a:ext cx="2953975" cy="9186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Medium"/>
              <a:buChar char="●"/>
              <a:defRPr sz="1800" b="0" i="0" u="none" strike="noStrike" cap="none">
                <a:solidFill>
                  <a:schemeClr val="dk2"/>
                </a:solidFill>
                <a:latin typeface="Open Sans Medium"/>
                <a:ea typeface="Open Sans Medium"/>
                <a:cs typeface="Open Sans Medium"/>
                <a:sym typeface="Open Sans Medium"/>
              </a:defRPr>
            </a:lvl1pPr>
            <a:lvl2pPr marL="914400" marR="0" lvl="1"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2pPr>
            <a:lvl3pPr marL="1371600" marR="0" lvl="2"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3pPr>
            <a:lvl4pPr marL="1828800" marR="0" lvl="3"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4pPr>
            <a:lvl5pPr marL="2286000" marR="0" lvl="4"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5pPr>
            <a:lvl6pPr marL="2743200" marR="0" lvl="5"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6pPr>
            <a:lvl7pPr marL="3200400" marR="0" lvl="6"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7pPr>
            <a:lvl8pPr marL="3657600" marR="0" lvl="7"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8pPr>
            <a:lvl9pPr marL="4114800" marR="0" lvl="8"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9pPr>
          </a:lstStyle>
          <a:p>
            <a:pPr marL="131445" indent="0" algn="ctr">
              <a:buSzPct val="100000"/>
              <a:buFont typeface="Open Sans Medium"/>
              <a:buNone/>
            </a:pPr>
            <a:r>
              <a:rPr lang="en-US" sz="1400" dirty="0">
                <a:solidFill>
                  <a:schemeClr val="bg1"/>
                </a:solidFill>
                <a:latin typeface="Josefin Sans" pitchFamily="2" charset="77"/>
              </a:rPr>
              <a:t>Caren Kresse</a:t>
            </a:r>
          </a:p>
          <a:p>
            <a:pPr marL="131445" indent="0" algn="ctr">
              <a:buSzPct val="100000"/>
              <a:buFont typeface="Open Sans Medium"/>
              <a:buNone/>
            </a:pPr>
            <a:r>
              <a:rPr lang="en-US" sz="1400" dirty="0">
                <a:solidFill>
                  <a:schemeClr val="bg1"/>
                </a:solidFill>
                <a:latin typeface="Josefin Sans" pitchFamily="2" charset="77"/>
              </a:rPr>
              <a:t>OSADL-</a:t>
            </a:r>
            <a:r>
              <a:rPr lang="en-US" sz="1400" dirty="0" err="1">
                <a:solidFill>
                  <a:schemeClr val="bg1"/>
                </a:solidFill>
                <a:latin typeface="Josefin Sans" pitchFamily="2" charset="77"/>
              </a:rPr>
              <a:t>Vorstandsmitglied</a:t>
            </a:r>
            <a:endParaRPr lang="en-US" sz="1400" dirty="0">
              <a:solidFill>
                <a:schemeClr val="bg1"/>
              </a:solidFill>
              <a:latin typeface="Josefin Sans" pitchFamily="2" charset="77"/>
            </a:endParaRPr>
          </a:p>
          <a:p>
            <a:pPr marL="131445" indent="0" algn="ctr">
              <a:buSzPct val="100000"/>
              <a:buFont typeface="Open Sans Medium"/>
              <a:buNone/>
            </a:pPr>
            <a:endParaRPr lang="en-US" sz="1400" dirty="0">
              <a:solidFill>
                <a:schemeClr val="bg1"/>
              </a:solidFill>
              <a:latin typeface="Josefin Sans" pitchFamily="2" charset="77"/>
            </a:endParaRPr>
          </a:p>
        </p:txBody>
      </p:sp>
    </p:spTree>
    <p:extLst>
      <p:ext uri="{BB962C8B-B14F-4D97-AF65-F5344CB8AC3E}">
        <p14:creationId xmlns:p14="http://schemas.microsoft.com/office/powerpoint/2010/main" val="1710379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FE22-3E1D-8727-A633-74A68C975C06}"/>
              </a:ext>
            </a:extLst>
          </p:cNvPr>
          <p:cNvSpPr>
            <a:spLocks noGrp="1"/>
          </p:cNvSpPr>
          <p:nvPr>
            <p:ph type="title"/>
          </p:nvPr>
        </p:nvSpPr>
        <p:spPr/>
        <p:txBody>
          <a:bodyPr>
            <a:normAutofit fontScale="90000"/>
          </a:bodyPr>
          <a:lstStyle/>
          <a:p>
            <a:r>
              <a:rPr lang="en-JP" dirty="0"/>
              <a:t>Today We Will Have…</a:t>
            </a:r>
          </a:p>
        </p:txBody>
      </p:sp>
      <p:sp>
        <p:nvSpPr>
          <p:cNvPr id="3" name="Text Placeholder 2">
            <a:extLst>
              <a:ext uri="{FF2B5EF4-FFF2-40B4-BE49-F238E27FC236}">
                <a16:creationId xmlns:a16="http://schemas.microsoft.com/office/drawing/2014/main" id="{43D7C10B-ED28-459F-59B1-0348895AB646}"/>
              </a:ext>
            </a:extLst>
          </p:cNvPr>
          <p:cNvSpPr>
            <a:spLocks noGrp="1"/>
          </p:cNvSpPr>
          <p:nvPr>
            <p:ph type="body" idx="1"/>
          </p:nvPr>
        </p:nvSpPr>
        <p:spPr/>
        <p:txBody>
          <a:bodyPr/>
          <a:lstStyle/>
          <a:p>
            <a:endParaRPr lang="en-JP" dirty="0"/>
          </a:p>
        </p:txBody>
      </p:sp>
    </p:spTree>
    <p:extLst>
      <p:ext uri="{BB962C8B-B14F-4D97-AF65-F5344CB8AC3E}">
        <p14:creationId xmlns:p14="http://schemas.microsoft.com/office/powerpoint/2010/main" val="3298682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F7A9-C31F-83F1-A381-11862BE71593}"/>
              </a:ext>
            </a:extLst>
          </p:cNvPr>
          <p:cNvSpPr>
            <a:spLocks noGrp="1"/>
          </p:cNvSpPr>
          <p:nvPr>
            <p:ph type="title"/>
          </p:nvPr>
        </p:nvSpPr>
        <p:spPr/>
        <p:txBody>
          <a:bodyPr>
            <a:normAutofit fontScale="90000"/>
          </a:bodyPr>
          <a:lstStyle/>
          <a:p>
            <a:r>
              <a:rPr lang="en-JP" dirty="0"/>
              <a:t>Our Panelists</a:t>
            </a:r>
          </a:p>
        </p:txBody>
      </p:sp>
      <p:pic>
        <p:nvPicPr>
          <p:cNvPr id="5" name="Picture 4" descr="A person wearing glasses and a necklace&#10;&#10;AI-generated content may be incorrect.">
            <a:extLst>
              <a:ext uri="{FF2B5EF4-FFF2-40B4-BE49-F238E27FC236}">
                <a16:creationId xmlns:a16="http://schemas.microsoft.com/office/drawing/2014/main" id="{38EB73C3-7D3E-D5F0-A093-00A48A95164A}"/>
              </a:ext>
            </a:extLst>
          </p:cNvPr>
          <p:cNvPicPr>
            <a:picLocks noChangeAspect="1"/>
          </p:cNvPicPr>
          <p:nvPr/>
        </p:nvPicPr>
        <p:blipFill>
          <a:blip r:embed="rId2"/>
          <a:stretch>
            <a:fillRect/>
          </a:stretch>
        </p:blipFill>
        <p:spPr>
          <a:xfrm>
            <a:off x="2190852" y="1635576"/>
            <a:ext cx="1288143" cy="1288143"/>
          </a:xfrm>
          <a:prstGeom prst="rect">
            <a:avLst/>
          </a:prstGeom>
        </p:spPr>
      </p:pic>
      <p:pic>
        <p:nvPicPr>
          <p:cNvPr id="7" name="Picture 6" descr="A person in a suit and tie&#10;&#10;AI-generated content may be incorrect.">
            <a:extLst>
              <a:ext uri="{FF2B5EF4-FFF2-40B4-BE49-F238E27FC236}">
                <a16:creationId xmlns:a16="http://schemas.microsoft.com/office/drawing/2014/main" id="{B7E65FDF-8FC1-044A-03F1-64DDB727E531}"/>
              </a:ext>
            </a:extLst>
          </p:cNvPr>
          <p:cNvPicPr>
            <a:picLocks noChangeAspect="1"/>
          </p:cNvPicPr>
          <p:nvPr/>
        </p:nvPicPr>
        <p:blipFill>
          <a:blip r:embed="rId3"/>
          <a:stretch>
            <a:fillRect/>
          </a:stretch>
        </p:blipFill>
        <p:spPr>
          <a:xfrm>
            <a:off x="456870" y="1635574"/>
            <a:ext cx="1288143" cy="1288143"/>
          </a:xfrm>
          <a:prstGeom prst="rect">
            <a:avLst/>
          </a:prstGeom>
        </p:spPr>
      </p:pic>
      <p:pic>
        <p:nvPicPr>
          <p:cNvPr id="9" name="Picture 8" descr="A person in a suit&#10;&#10;AI-generated content may be incorrect.">
            <a:extLst>
              <a:ext uri="{FF2B5EF4-FFF2-40B4-BE49-F238E27FC236}">
                <a16:creationId xmlns:a16="http://schemas.microsoft.com/office/drawing/2014/main" id="{D8F7AFA6-16EA-80B7-AA12-DB527D7F9538}"/>
              </a:ext>
            </a:extLst>
          </p:cNvPr>
          <p:cNvPicPr>
            <a:picLocks noChangeAspect="1"/>
          </p:cNvPicPr>
          <p:nvPr/>
        </p:nvPicPr>
        <p:blipFill>
          <a:blip r:embed="rId4"/>
          <a:stretch>
            <a:fillRect/>
          </a:stretch>
        </p:blipFill>
        <p:spPr>
          <a:xfrm>
            <a:off x="7391754" y="1635574"/>
            <a:ext cx="1288143" cy="1288143"/>
          </a:xfrm>
          <a:prstGeom prst="rect">
            <a:avLst/>
          </a:prstGeom>
        </p:spPr>
      </p:pic>
      <p:pic>
        <p:nvPicPr>
          <p:cNvPr id="11" name="Picture 10" descr="A close-up of a person smiling&#10;&#10;AI-generated content may be incorrect.">
            <a:extLst>
              <a:ext uri="{FF2B5EF4-FFF2-40B4-BE49-F238E27FC236}">
                <a16:creationId xmlns:a16="http://schemas.microsoft.com/office/drawing/2014/main" id="{9656B6F9-E724-D788-B1E7-08B004EBD676}"/>
              </a:ext>
            </a:extLst>
          </p:cNvPr>
          <p:cNvPicPr>
            <a:picLocks noChangeAspect="1"/>
          </p:cNvPicPr>
          <p:nvPr/>
        </p:nvPicPr>
        <p:blipFill>
          <a:blip r:embed="rId5"/>
          <a:stretch>
            <a:fillRect/>
          </a:stretch>
        </p:blipFill>
        <p:spPr>
          <a:xfrm>
            <a:off x="3924833" y="1635574"/>
            <a:ext cx="1288143" cy="1288143"/>
          </a:xfrm>
          <a:prstGeom prst="rect">
            <a:avLst/>
          </a:prstGeom>
        </p:spPr>
      </p:pic>
      <p:pic>
        <p:nvPicPr>
          <p:cNvPr id="13" name="Picture 12" descr="A person sitting on a boat&#10;&#10;AI-generated content may be incorrect.">
            <a:extLst>
              <a:ext uri="{FF2B5EF4-FFF2-40B4-BE49-F238E27FC236}">
                <a16:creationId xmlns:a16="http://schemas.microsoft.com/office/drawing/2014/main" id="{B4610794-509A-0469-E350-A270A89F69E5}"/>
              </a:ext>
            </a:extLst>
          </p:cNvPr>
          <p:cNvPicPr>
            <a:picLocks noChangeAspect="1"/>
          </p:cNvPicPr>
          <p:nvPr/>
        </p:nvPicPr>
        <p:blipFill>
          <a:blip r:embed="rId6"/>
          <a:stretch>
            <a:fillRect/>
          </a:stretch>
        </p:blipFill>
        <p:spPr>
          <a:xfrm>
            <a:off x="5658815" y="1635574"/>
            <a:ext cx="1288143" cy="1288143"/>
          </a:xfrm>
          <a:prstGeom prst="rect">
            <a:avLst/>
          </a:prstGeom>
        </p:spPr>
      </p:pic>
      <p:sp>
        <p:nvSpPr>
          <p:cNvPr id="16" name="TextBox 15">
            <a:extLst>
              <a:ext uri="{FF2B5EF4-FFF2-40B4-BE49-F238E27FC236}">
                <a16:creationId xmlns:a16="http://schemas.microsoft.com/office/drawing/2014/main" id="{63051427-DDB5-6175-E41A-FD2071677192}"/>
              </a:ext>
            </a:extLst>
          </p:cNvPr>
          <p:cNvSpPr txBox="1"/>
          <p:nvPr/>
        </p:nvSpPr>
        <p:spPr>
          <a:xfrm>
            <a:off x="540531" y="3047992"/>
            <a:ext cx="1120820" cy="307777"/>
          </a:xfrm>
          <a:prstGeom prst="rect">
            <a:avLst/>
          </a:prstGeom>
          <a:noFill/>
        </p:spPr>
        <p:txBody>
          <a:bodyPr wrap="none" rtlCol="0">
            <a:spAutoFit/>
          </a:bodyPr>
          <a:lstStyle/>
          <a:p>
            <a:r>
              <a:rPr lang="en-JP" dirty="0"/>
              <a:t>Chris Wood</a:t>
            </a:r>
          </a:p>
        </p:txBody>
      </p:sp>
      <p:sp>
        <p:nvSpPr>
          <p:cNvPr id="17" name="TextBox 16">
            <a:extLst>
              <a:ext uri="{FF2B5EF4-FFF2-40B4-BE49-F238E27FC236}">
                <a16:creationId xmlns:a16="http://schemas.microsoft.com/office/drawing/2014/main" id="{4D1B35F1-8C24-807A-6960-46703E5A6086}"/>
              </a:ext>
            </a:extLst>
          </p:cNvPr>
          <p:cNvSpPr txBox="1"/>
          <p:nvPr/>
        </p:nvSpPr>
        <p:spPr>
          <a:xfrm>
            <a:off x="2190852" y="3047996"/>
            <a:ext cx="1279517" cy="307777"/>
          </a:xfrm>
          <a:prstGeom prst="rect">
            <a:avLst/>
          </a:prstGeom>
          <a:noFill/>
        </p:spPr>
        <p:txBody>
          <a:bodyPr wrap="none" rtlCol="0">
            <a:spAutoFit/>
          </a:bodyPr>
          <a:lstStyle/>
          <a:p>
            <a:r>
              <a:rPr lang="en-US" dirty="0"/>
              <a:t>Caren Kresse</a:t>
            </a:r>
            <a:endParaRPr lang="en-JP" dirty="0"/>
          </a:p>
        </p:txBody>
      </p:sp>
      <p:sp>
        <p:nvSpPr>
          <p:cNvPr id="18" name="TextBox 17">
            <a:extLst>
              <a:ext uri="{FF2B5EF4-FFF2-40B4-BE49-F238E27FC236}">
                <a16:creationId xmlns:a16="http://schemas.microsoft.com/office/drawing/2014/main" id="{5037E98A-A455-D2F8-1B30-6D4721816572}"/>
              </a:ext>
            </a:extLst>
          </p:cNvPr>
          <p:cNvSpPr txBox="1"/>
          <p:nvPr/>
        </p:nvSpPr>
        <p:spPr>
          <a:xfrm>
            <a:off x="3835370" y="3048001"/>
            <a:ext cx="1467068" cy="307777"/>
          </a:xfrm>
          <a:prstGeom prst="rect">
            <a:avLst/>
          </a:prstGeom>
          <a:noFill/>
        </p:spPr>
        <p:txBody>
          <a:bodyPr wrap="none" rtlCol="0">
            <a:spAutoFit/>
          </a:bodyPr>
          <a:lstStyle/>
          <a:p>
            <a:r>
              <a:rPr lang="en-JP" dirty="0"/>
              <a:t>Heather Meeker</a:t>
            </a:r>
          </a:p>
        </p:txBody>
      </p:sp>
      <p:sp>
        <p:nvSpPr>
          <p:cNvPr id="19" name="TextBox 18">
            <a:extLst>
              <a:ext uri="{FF2B5EF4-FFF2-40B4-BE49-F238E27FC236}">
                <a16:creationId xmlns:a16="http://schemas.microsoft.com/office/drawing/2014/main" id="{59575266-2915-CCA9-350E-7F52CC7311B4}"/>
              </a:ext>
            </a:extLst>
          </p:cNvPr>
          <p:cNvSpPr txBox="1"/>
          <p:nvPr/>
        </p:nvSpPr>
        <p:spPr>
          <a:xfrm>
            <a:off x="5748086" y="3048000"/>
            <a:ext cx="1109599" cy="307777"/>
          </a:xfrm>
          <a:prstGeom prst="rect">
            <a:avLst/>
          </a:prstGeom>
          <a:noFill/>
        </p:spPr>
        <p:txBody>
          <a:bodyPr wrap="none" rtlCol="0">
            <a:spAutoFit/>
          </a:bodyPr>
          <a:lstStyle/>
          <a:p>
            <a:r>
              <a:rPr lang="en-JP" dirty="0"/>
              <a:t>Mary Hardy</a:t>
            </a:r>
          </a:p>
        </p:txBody>
      </p:sp>
      <p:sp>
        <p:nvSpPr>
          <p:cNvPr id="20" name="TextBox 19">
            <a:extLst>
              <a:ext uri="{FF2B5EF4-FFF2-40B4-BE49-F238E27FC236}">
                <a16:creationId xmlns:a16="http://schemas.microsoft.com/office/drawing/2014/main" id="{E8C1A814-B069-9FBB-6387-D0199EC146B0}"/>
              </a:ext>
            </a:extLst>
          </p:cNvPr>
          <p:cNvSpPr txBox="1"/>
          <p:nvPr/>
        </p:nvSpPr>
        <p:spPr>
          <a:xfrm>
            <a:off x="7530718" y="3047997"/>
            <a:ext cx="1010213" cy="307777"/>
          </a:xfrm>
          <a:prstGeom prst="rect">
            <a:avLst/>
          </a:prstGeom>
          <a:noFill/>
        </p:spPr>
        <p:txBody>
          <a:bodyPr wrap="none" rtlCol="0">
            <a:spAutoFit/>
          </a:bodyPr>
          <a:lstStyle/>
          <a:p>
            <a:r>
              <a:rPr lang="en-JP" dirty="0"/>
              <a:t>Till Jaeger</a:t>
            </a:r>
          </a:p>
        </p:txBody>
      </p:sp>
    </p:spTree>
    <p:extLst>
      <p:ext uri="{BB962C8B-B14F-4D97-AF65-F5344CB8AC3E}">
        <p14:creationId xmlns:p14="http://schemas.microsoft.com/office/powerpoint/2010/main" val="2565103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30373-9195-9D90-3EB5-D4A8CCCE6194}"/>
              </a:ext>
            </a:extLst>
          </p:cNvPr>
          <p:cNvSpPr>
            <a:spLocks noGrp="1"/>
          </p:cNvSpPr>
          <p:nvPr>
            <p:ph type="title"/>
          </p:nvPr>
        </p:nvSpPr>
        <p:spPr/>
        <p:txBody>
          <a:bodyPr>
            <a:normAutofit fontScale="90000"/>
          </a:bodyPr>
          <a:lstStyle/>
          <a:p>
            <a:r>
              <a:rPr lang="en-JP" dirty="0"/>
              <a:t>Discussion Point #1</a:t>
            </a:r>
          </a:p>
        </p:txBody>
      </p:sp>
      <p:sp>
        <p:nvSpPr>
          <p:cNvPr id="3" name="Text Placeholder 2">
            <a:extLst>
              <a:ext uri="{FF2B5EF4-FFF2-40B4-BE49-F238E27FC236}">
                <a16:creationId xmlns:a16="http://schemas.microsoft.com/office/drawing/2014/main" id="{37438E09-1C07-FF81-463C-BCF93B44B2C4}"/>
              </a:ext>
            </a:extLst>
          </p:cNvPr>
          <p:cNvSpPr>
            <a:spLocks noGrp="1"/>
          </p:cNvSpPr>
          <p:nvPr>
            <p:ph type="body" idx="1"/>
          </p:nvPr>
        </p:nvSpPr>
        <p:spPr/>
        <p:txBody>
          <a:bodyPr/>
          <a:lstStyle/>
          <a:p>
            <a:pPr marL="114300" indent="0">
              <a:buNone/>
            </a:pPr>
            <a:r>
              <a:rPr lang="en-US" dirty="0"/>
              <a:t>Question from Chris to the Panel:</a:t>
            </a:r>
          </a:p>
          <a:p>
            <a:pPr marL="114300" indent="0">
              <a:buNone/>
            </a:pPr>
            <a:endParaRPr lang="en-US" dirty="0"/>
          </a:p>
          <a:p>
            <a:pPr marL="114300" indent="0">
              <a:buNone/>
            </a:pPr>
            <a:r>
              <a:rPr lang="en-US" dirty="0"/>
              <a:t>"I have a concern about Package Manager Transparency: The current products of several key package managers do not contain sufficient information to achieve true license compliance as many only reveal the top-level license. More often than not they fail to provide the necessary information (source code and SBOMs) for a comprehensive license assessment. Increased transparency and standardization in this area are crucial. What are your thoughts?”</a:t>
            </a:r>
            <a:endParaRPr lang="en-JP" dirty="0"/>
          </a:p>
        </p:txBody>
      </p:sp>
    </p:spTree>
    <p:extLst>
      <p:ext uri="{BB962C8B-B14F-4D97-AF65-F5344CB8AC3E}">
        <p14:creationId xmlns:p14="http://schemas.microsoft.com/office/powerpoint/2010/main" val="244977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292AB-E5CD-6735-63DB-9638BBDFF7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F0EFD-ED92-978F-B290-6D6763B69D14}"/>
              </a:ext>
            </a:extLst>
          </p:cNvPr>
          <p:cNvSpPr>
            <a:spLocks noGrp="1"/>
          </p:cNvSpPr>
          <p:nvPr>
            <p:ph type="title"/>
          </p:nvPr>
        </p:nvSpPr>
        <p:spPr/>
        <p:txBody>
          <a:bodyPr>
            <a:normAutofit fontScale="90000"/>
          </a:bodyPr>
          <a:lstStyle/>
          <a:p>
            <a:r>
              <a:rPr lang="en-JP" dirty="0"/>
              <a:t>Discussion Point #2</a:t>
            </a:r>
          </a:p>
        </p:txBody>
      </p:sp>
      <p:sp>
        <p:nvSpPr>
          <p:cNvPr id="3" name="Text Placeholder 2">
            <a:extLst>
              <a:ext uri="{FF2B5EF4-FFF2-40B4-BE49-F238E27FC236}">
                <a16:creationId xmlns:a16="http://schemas.microsoft.com/office/drawing/2014/main" id="{AC04C16C-D032-6B2C-E3BF-629F2011407D}"/>
              </a:ext>
            </a:extLst>
          </p:cNvPr>
          <p:cNvSpPr>
            <a:spLocks noGrp="1"/>
          </p:cNvSpPr>
          <p:nvPr>
            <p:ph type="body" idx="1"/>
          </p:nvPr>
        </p:nvSpPr>
        <p:spPr/>
        <p:txBody>
          <a:bodyPr/>
          <a:lstStyle/>
          <a:p>
            <a:pPr marL="114300" indent="0">
              <a:buNone/>
            </a:pPr>
            <a:r>
              <a:rPr lang="en-US" dirty="0"/>
              <a:t>Question from Chris to the Panel:</a:t>
            </a:r>
          </a:p>
          <a:p>
            <a:pPr marL="114300" indent="0">
              <a:buNone/>
            </a:pPr>
            <a:endParaRPr lang="en-US" dirty="0"/>
          </a:p>
          <a:p>
            <a:pPr marL="114300" indent="0">
              <a:buNone/>
            </a:pPr>
            <a:r>
              <a:rPr lang="en-US" dirty="0"/>
              <a:t>"Moving on to the second question, another cause for concern lies with the design limitations of License Scanners: While license scanners are improving, many still lack the capability to deeply analyze binaries, resulting in incomplete and therefore inaccurate license compliance reports. The development of more robust and sophisticated scanning technologies is essential to address this gap. What are your thoughts?”</a:t>
            </a:r>
            <a:endParaRPr lang="en-JP" dirty="0"/>
          </a:p>
        </p:txBody>
      </p:sp>
    </p:spTree>
    <p:extLst>
      <p:ext uri="{BB962C8B-B14F-4D97-AF65-F5344CB8AC3E}">
        <p14:creationId xmlns:p14="http://schemas.microsoft.com/office/powerpoint/2010/main" val="275347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74F7E-55E6-15D3-CF94-0A729ED629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4D12F-6A52-E6A4-A3D8-C99AEBC3F57E}"/>
              </a:ext>
            </a:extLst>
          </p:cNvPr>
          <p:cNvSpPr>
            <a:spLocks noGrp="1"/>
          </p:cNvSpPr>
          <p:nvPr>
            <p:ph type="title"/>
          </p:nvPr>
        </p:nvSpPr>
        <p:spPr/>
        <p:txBody>
          <a:bodyPr>
            <a:normAutofit fontScale="90000"/>
          </a:bodyPr>
          <a:lstStyle/>
          <a:p>
            <a:r>
              <a:rPr lang="en-JP" dirty="0"/>
              <a:t>Discussion Point #3</a:t>
            </a:r>
          </a:p>
        </p:txBody>
      </p:sp>
      <p:sp>
        <p:nvSpPr>
          <p:cNvPr id="3" name="Text Placeholder 2">
            <a:extLst>
              <a:ext uri="{FF2B5EF4-FFF2-40B4-BE49-F238E27FC236}">
                <a16:creationId xmlns:a16="http://schemas.microsoft.com/office/drawing/2014/main" id="{368CBA98-CF37-9F5C-4AD9-77BB9C46A4DC}"/>
              </a:ext>
            </a:extLst>
          </p:cNvPr>
          <p:cNvSpPr>
            <a:spLocks noGrp="1"/>
          </p:cNvSpPr>
          <p:nvPr>
            <p:ph type="body" idx="1"/>
          </p:nvPr>
        </p:nvSpPr>
        <p:spPr/>
        <p:txBody>
          <a:bodyPr/>
          <a:lstStyle/>
          <a:p>
            <a:pPr marL="114300" indent="0">
              <a:buNone/>
            </a:pPr>
            <a:r>
              <a:rPr lang="en-US" dirty="0"/>
              <a:t>Question from Chris to the Panel:</a:t>
            </a:r>
          </a:p>
          <a:p>
            <a:pPr marL="114300" indent="0">
              <a:buNone/>
            </a:pPr>
            <a:endParaRPr lang="en-US" dirty="0"/>
          </a:p>
          <a:p>
            <a:pPr marL="114300" indent="0">
              <a:buNone/>
            </a:pPr>
            <a:r>
              <a:rPr lang="en-US" dirty="0"/>
              <a:t>“I would assert that there is a need for improved developer awareness of container license and copyright information to help the community to achieve a comprehensive container license compliance process is necessary to achieve a shift in developer practices. What are your thoughts?"</a:t>
            </a:r>
            <a:endParaRPr lang="en-JP" dirty="0"/>
          </a:p>
        </p:txBody>
      </p:sp>
    </p:spTree>
    <p:extLst>
      <p:ext uri="{BB962C8B-B14F-4D97-AF65-F5344CB8AC3E}">
        <p14:creationId xmlns:p14="http://schemas.microsoft.com/office/powerpoint/2010/main" val="2691449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2593-E633-A6B0-16E3-80728DF5CAF4}"/>
              </a:ext>
            </a:extLst>
          </p:cNvPr>
          <p:cNvSpPr>
            <a:spLocks noGrp="1"/>
          </p:cNvSpPr>
          <p:nvPr>
            <p:ph type="title"/>
          </p:nvPr>
        </p:nvSpPr>
        <p:spPr/>
        <p:txBody>
          <a:bodyPr>
            <a:normAutofit fontScale="90000"/>
          </a:bodyPr>
          <a:lstStyle/>
          <a:p>
            <a:r>
              <a:rPr lang="en-JP" dirty="0"/>
              <a:t>Next Phase: Overall Context Revisted</a:t>
            </a:r>
          </a:p>
        </p:txBody>
      </p:sp>
      <p:sp>
        <p:nvSpPr>
          <p:cNvPr id="3" name="Text Placeholder 2">
            <a:extLst>
              <a:ext uri="{FF2B5EF4-FFF2-40B4-BE49-F238E27FC236}">
                <a16:creationId xmlns:a16="http://schemas.microsoft.com/office/drawing/2014/main" id="{601890B5-62B5-CA3D-E48C-4CF5554FB402}"/>
              </a:ext>
            </a:extLst>
          </p:cNvPr>
          <p:cNvSpPr>
            <a:spLocks noGrp="1"/>
          </p:cNvSpPr>
          <p:nvPr>
            <p:ph type="body" idx="1"/>
          </p:nvPr>
        </p:nvSpPr>
        <p:spPr/>
        <p:txBody>
          <a:bodyPr/>
          <a:lstStyle/>
          <a:p>
            <a:r>
              <a:rPr lang="en-JP" dirty="0"/>
              <a:t>Each panelist is invited to share their </a:t>
            </a:r>
            <a:r>
              <a:rPr lang="en-US" dirty="0"/>
              <a:t>key thoughts about containers and compliance</a:t>
            </a:r>
            <a:endParaRPr lang="en-JP" dirty="0"/>
          </a:p>
        </p:txBody>
      </p:sp>
    </p:spTree>
    <p:extLst>
      <p:ext uri="{BB962C8B-B14F-4D97-AF65-F5344CB8AC3E}">
        <p14:creationId xmlns:p14="http://schemas.microsoft.com/office/powerpoint/2010/main" val="878379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2EB0A-3090-A439-5968-9B949B0DB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34C8A-7705-39EC-6972-430A4D575D6F}"/>
              </a:ext>
            </a:extLst>
          </p:cNvPr>
          <p:cNvSpPr>
            <a:spLocks noGrp="1"/>
          </p:cNvSpPr>
          <p:nvPr>
            <p:ph type="title"/>
          </p:nvPr>
        </p:nvSpPr>
        <p:spPr/>
        <p:txBody>
          <a:bodyPr>
            <a:normAutofit fontScale="90000"/>
          </a:bodyPr>
          <a:lstStyle/>
          <a:p>
            <a:r>
              <a:rPr lang="en-JP" dirty="0"/>
              <a:t>Audience Questions Welcome</a:t>
            </a:r>
          </a:p>
        </p:txBody>
      </p:sp>
      <p:sp>
        <p:nvSpPr>
          <p:cNvPr id="3" name="Text Placeholder 2">
            <a:extLst>
              <a:ext uri="{FF2B5EF4-FFF2-40B4-BE49-F238E27FC236}">
                <a16:creationId xmlns:a16="http://schemas.microsoft.com/office/drawing/2014/main" id="{9ECD2D91-F2DE-7FA2-C598-6982BF1A7BFB}"/>
              </a:ext>
            </a:extLst>
          </p:cNvPr>
          <p:cNvSpPr>
            <a:spLocks noGrp="1"/>
          </p:cNvSpPr>
          <p:nvPr>
            <p:ph type="body" idx="1"/>
          </p:nvPr>
        </p:nvSpPr>
        <p:spPr/>
        <p:txBody>
          <a:bodyPr/>
          <a:lstStyle/>
          <a:p>
            <a:r>
              <a:rPr lang="en-US" dirty="0"/>
              <a:t>Starting question from Chris to the panelists: </a:t>
            </a:r>
            <a:endParaRPr lang="en-JP" dirty="0"/>
          </a:p>
          <a:p>
            <a:pPr marL="114300" indent="0">
              <a:buNone/>
            </a:pPr>
            <a:br>
              <a:rPr lang="en-JP" dirty="0"/>
            </a:br>
            <a:r>
              <a:rPr lang="en-JP" dirty="0"/>
              <a:t>	</a:t>
            </a:r>
            <a:r>
              <a:rPr lang="en-JP" i="1" dirty="0"/>
              <a:t>W</a:t>
            </a:r>
            <a:r>
              <a:rPr lang="en-US" i="1" dirty="0"/>
              <a:t>hat does the future hold for containers and compliance?</a:t>
            </a:r>
          </a:p>
        </p:txBody>
      </p:sp>
    </p:spTree>
    <p:extLst>
      <p:ext uri="{BB962C8B-B14F-4D97-AF65-F5344CB8AC3E}">
        <p14:creationId xmlns:p14="http://schemas.microsoft.com/office/powerpoint/2010/main" val="10908707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
</p:tagLst>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510</Words>
  <Application>Microsoft Macintosh PowerPoint</Application>
  <PresentationFormat>On-screen Show (16:9)</PresentationFormat>
  <Paragraphs>40</Paragraphs>
  <Slides>13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Josefin Sans</vt:lpstr>
      <vt:lpstr>Arial</vt:lpstr>
      <vt:lpstr>Roboto Slab Light</vt:lpstr>
      <vt:lpstr>Roboto</vt:lpstr>
      <vt:lpstr>Open Sans Medium</vt:lpstr>
      <vt:lpstr>Linux Foundation EU Theme 2023</vt:lpstr>
      <vt:lpstr>Title</vt:lpstr>
      <vt:lpstr>Anti-Trust Policy Notice</vt:lpstr>
      <vt:lpstr>Example Slides After This</vt:lpstr>
      <vt:lpstr>Unlocking Potential</vt:lpstr>
      <vt:lpstr>OIN - A Conversation About the Journey So Far and Preview of OIN 2.0 Featuring Keith Bergelt, CEO of OIN and Shane Coughlan, GM of OpenChain</vt:lpstr>
      <vt:lpstr>Compliant containers with the OSADL Base Image</vt:lpstr>
      <vt:lpstr>Today We Will Have…</vt:lpstr>
      <vt:lpstr>Our Panelists</vt:lpstr>
      <vt:lpstr>Discussion Point #1</vt:lpstr>
      <vt:lpstr>Discussion Point #2</vt:lpstr>
      <vt:lpstr>Discussion Point #3</vt:lpstr>
      <vt:lpstr>Next Phase: Overall Context Revisted</vt:lpstr>
      <vt:lpstr>Audience Questions Welcome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Shane Coughlan</cp:lastModifiedBy>
  <cp:revision>14</cp:revision>
  <dcterms:modified xsi:type="dcterms:W3CDTF">2025-11-21T01:15:00Z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780F7190-2E3C-4234-A4BB-3777604E7949</vt:lpwstr>
  </property>
  <property fmtid="{D5CDD505-2E9C-101B-9397-08002B2CF9AE}" pid="3" name="ArticulatePath">
    <vt:lpwstr>https://trw1-my.sharepoint.com/personal/sarah_moser_zf_com/Documents/Desktop/2024-2H-format</vt:lpwstr>
  </property>
  <property fmtid="{D5CDD505-2E9C-101B-9397-08002B2CF9AE}" pid="4" name="MSIP_Label_7294a1c8-9899-41e7-8f6e-8b1b3c79592a_Enabled">
    <vt:lpwstr>true</vt:lpwstr>
  </property>
  <property fmtid="{D5CDD505-2E9C-101B-9397-08002B2CF9AE}" pid="5" name="MSIP_Label_7294a1c8-9899-41e7-8f6e-8b1b3c79592a_SetDate">
    <vt:lpwstr>2025-07-15T12:19:18Z</vt:lpwstr>
  </property>
  <property fmtid="{D5CDD505-2E9C-101B-9397-08002B2CF9AE}" pid="6" name="MSIP_Label_7294a1c8-9899-41e7-8f6e-8b1b3c79592a_Method">
    <vt:lpwstr>Privileged</vt:lpwstr>
  </property>
  <property fmtid="{D5CDD505-2E9C-101B-9397-08002B2CF9AE}" pid="7" name="MSIP_Label_7294a1c8-9899-41e7-8f6e-8b1b3c79592a_Name">
    <vt:lpwstr>Internal sub2 (no marking)</vt:lpwstr>
  </property>
  <property fmtid="{D5CDD505-2E9C-101B-9397-08002B2CF9AE}" pid="8" name="MSIP_Label_7294a1c8-9899-41e7-8f6e-8b1b3c79592a_SiteId">
    <vt:lpwstr>eb70b763-b6d7-4486-8555-8831709a784e</vt:lpwstr>
  </property>
  <property fmtid="{D5CDD505-2E9C-101B-9397-08002B2CF9AE}" pid="9" name="MSIP_Label_7294a1c8-9899-41e7-8f6e-8b1b3c79592a_ActionId">
    <vt:lpwstr>6451297e-1a76-402e-997f-c9c8d9a18384</vt:lpwstr>
  </property>
  <property fmtid="{D5CDD505-2E9C-101B-9397-08002B2CF9AE}" pid="10" name="MSIP_Label_7294a1c8-9899-41e7-8f6e-8b1b3c79592a_ContentBits">
    <vt:lpwstr>0</vt:lpwstr>
  </property>
</Properties>
</file>